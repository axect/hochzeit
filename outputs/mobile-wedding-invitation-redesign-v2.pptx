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9e9860a474396" /><Relationship Type="http://schemas.openxmlformats.org/officeDocument/2006/relationships/extended-properties" Target="/docProps/app.xml" Id="R38e28ad3cd134555" /><Relationship Type="http://schemas.openxmlformats.org/officeDocument/2006/relationships/officeDocument" Target="/ppt/presentation.xml" Id="Rfe7d8ee460ae4b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63676d9ba4e66"/>
  </p:sldMasterIdLst>
  <p:notesMasterIdLst>
    <p:notesMasterId xmlns:r="http://schemas.openxmlformats.org/officeDocument/2006/relationships" r:id="R6e3edc0a3e574794"/>
  </p:notesMasterIdLst>
  <p:sldIdLst>
    <p:sldId xmlns:r="http://schemas.openxmlformats.org/officeDocument/2006/relationships" id="256" r:id="R91655d59a15a439d"/>
    <p:sldId xmlns:r="http://schemas.openxmlformats.org/officeDocument/2006/relationships" id="257" r:id="R4f17295937974286"/>
    <p:sldId xmlns:r="http://schemas.openxmlformats.org/officeDocument/2006/relationships" id="258" r:id="Rf991449c6f9b4f34"/>
    <p:sldId xmlns:r="http://schemas.openxmlformats.org/officeDocument/2006/relationships" id="259" r:id="Rdfccce848b8a44f7"/>
    <p:sldId xmlns:r="http://schemas.openxmlformats.org/officeDocument/2006/relationships" id="260" r:id="R54671fbe18934134"/>
    <p:sldId xmlns:r="http://schemas.openxmlformats.org/officeDocument/2006/relationships" id="261" r:id="R44a4b3af0dab49a9"/>
    <p:sldId xmlns:r="http://schemas.openxmlformats.org/officeDocument/2006/relationships" id="262" r:id="R06357510cda34f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984dcb66042e2" /><Relationship Type="http://schemas.openxmlformats.org/officeDocument/2006/relationships/slideMaster" Target="/ppt/slideMasters/slideMaster1.xml" Id="R27d63676d9ba4e66" /><Relationship Type="http://schemas.openxmlformats.org/officeDocument/2006/relationships/notesMaster" Target="/ppt/notesMasters/notesMaster1.xml" Id="R6e3edc0a3e574794" /><Relationship Type="http://schemas.openxmlformats.org/officeDocument/2006/relationships/presProps" Target="/ppt/presProps.xml" Id="R43c24ab53ae44a51" /><Relationship Type="http://schemas.openxmlformats.org/officeDocument/2006/relationships/tableStyles" Target="/ppt/tableStyles.xml" Id="Rb40bd8680caa4339" /><Relationship Type="http://schemas.openxmlformats.org/officeDocument/2006/relationships/slide" Target="/ppt/slides/slide1.xml" Id="R91655d59a15a439d" /><Relationship Type="http://schemas.openxmlformats.org/officeDocument/2006/relationships/slide" Target="/ppt/slides/slide2.xml" Id="R4f17295937974286" /><Relationship Type="http://schemas.openxmlformats.org/officeDocument/2006/relationships/slide" Target="/ppt/slides/slide3.xml" Id="Rf991449c6f9b4f34" /><Relationship Type="http://schemas.openxmlformats.org/officeDocument/2006/relationships/slide" Target="/ppt/slides/slide4.xml" Id="Rdfccce848b8a44f7" /><Relationship Type="http://schemas.openxmlformats.org/officeDocument/2006/relationships/slide" Target="/ppt/slides/slide5.xml" Id="R54671fbe18934134" /><Relationship Type="http://schemas.openxmlformats.org/officeDocument/2006/relationships/slide" Target="/ppt/slides/slide6.xml" Id="R44a4b3af0dab49a9" /><Relationship Type="http://schemas.openxmlformats.org/officeDocument/2006/relationships/slide" Target="/ppt/slides/slide7.xml" Id="R06357510cda3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3741a00ede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6d76d57a914c98" /><Relationship Type="http://schemas.openxmlformats.org/officeDocument/2006/relationships/notesMaster" Target="/ppt/notesMasters/notesMaster1.xml" Id="R9ace12a905aa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70d5a333a4018" /><Relationship Type="http://schemas.openxmlformats.org/officeDocument/2006/relationships/notesMaster" Target="/ppt/notesMasters/notesMaster1.xml" Id="Rbc35feabc8e14c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a624c3e8c4d7a" /><Relationship Type="http://schemas.openxmlformats.org/officeDocument/2006/relationships/notesMaster" Target="/ppt/notesMasters/notesMaster1.xml" Id="R439f08f285da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1abb28dd024e0d" /><Relationship Type="http://schemas.openxmlformats.org/officeDocument/2006/relationships/notesMaster" Target="/ppt/notesMasters/notesMaster1.xml" Id="Rcdc0a7bd4a3b46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0a94c9054141e8" /><Relationship Type="http://schemas.openxmlformats.org/officeDocument/2006/relationships/notesMaster" Target="/ppt/notesMasters/notesMaster1.xml" Id="Rbc24334427124a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2589577a374120" /><Relationship Type="http://schemas.openxmlformats.org/officeDocument/2006/relationships/notesMaster" Target="/ppt/notesMasters/notesMaster1.xml" Id="Rade89dd634aa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0e44a6fdce44a3" /><Relationship Type="http://schemas.openxmlformats.org/officeDocument/2006/relationships/notesMaster" Target="/ppt/notesMasters/notesMaster1.xml" Id="Ree0bb28b16e944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b706ec8fe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f1a480fe3444d" /><Relationship Type="http://schemas.openxmlformats.org/officeDocument/2006/relationships/slideLayout" Target="/ppt/slideLayouts/slideLayout1.xml" Id="R800fee9c8f2f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0fee9c8f2f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568e2d9874e35" /><Relationship Type="http://schemas.openxmlformats.org/officeDocument/2006/relationships/image" Target="/ppt/media/image.jpeg" Id="R2f08aa7719aa41b6" /><Relationship Type="http://schemas.openxmlformats.org/officeDocument/2006/relationships/notesSlide" Target="/ppt/notesSlides/notesSlide1.xml" Id="R9232e7f65daa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ff630d4294a4a" /><Relationship Type="http://schemas.openxmlformats.org/officeDocument/2006/relationships/image" Target="/ppt/media/image2.jpeg" Id="R59e847e5640344f3" /><Relationship Type="http://schemas.openxmlformats.org/officeDocument/2006/relationships/notesSlide" Target="/ppt/notesSlides/notesSlide2.xml" Id="Rde125c1bbaa34d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d44f140c4750" /><Relationship Type="http://schemas.openxmlformats.org/officeDocument/2006/relationships/image" Target="/ppt/media/image3.jpeg" Id="Rbccc3a609a8342f5" /><Relationship Type="http://schemas.openxmlformats.org/officeDocument/2006/relationships/notesSlide" Target="/ppt/notesSlides/notesSlide3.xml" Id="R2601a47e16334f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4f88017f44430" /><Relationship Type="http://schemas.openxmlformats.org/officeDocument/2006/relationships/image" Target="/ppt/media/image4.jpeg" Id="Red608c50a5414c01" /><Relationship Type="http://schemas.openxmlformats.org/officeDocument/2006/relationships/notesSlide" Target="/ppt/notesSlides/notesSlide4.xml" Id="Rcdaaffeb374f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74ce01328460e" /><Relationship Type="http://schemas.openxmlformats.org/officeDocument/2006/relationships/image" Target="/ppt/media/image5.jpeg" Id="R9eac8edd56d24c52" /><Relationship Type="http://schemas.openxmlformats.org/officeDocument/2006/relationships/notesSlide" Target="/ppt/notesSlides/notesSlide5.xml" Id="Rea19adf5636c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b66da91a4e90" /><Relationship Type="http://schemas.openxmlformats.org/officeDocument/2006/relationships/image" Target="/ppt/media/image6.jpeg" Id="Rd76796666cc54826" /><Relationship Type="http://schemas.openxmlformats.org/officeDocument/2006/relationships/notesSlide" Target="/ppt/notesSlides/notesSlide6.xml" Id="R46d3bd06a68c42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841060307424f" /><Relationship Type="http://schemas.openxmlformats.org/officeDocument/2006/relationships/image" Target="/ppt/media/image7.jpeg" Id="R1cccce86114e4f7e" /><Relationship Type="http://schemas.openxmlformats.org/officeDocument/2006/relationships/notesSlide" Target="/ppt/notesSlides/notesSlide7.xml" Id="R54efbd5a107d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791C2-99AE-4A95-9D2D-5A47F49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82CC7-D289-41F3-940E-2636E9BC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6750"/>
            <a:ext cx="295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8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06351-49C7-4F9E-9111-22D99BE0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90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8aa7719aa41b6"/>
          <a:srcRect xmlns:a="http://schemas.openxmlformats.org/drawingml/2006/main" l="15360" t="0" r="15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1143000"/>
            <a:ext cx="2076450" cy="2247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DD9AD-DC46-4D2D-BC75-EC739B03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73D28"/>
                </a:solidFill>
              </a:defRPr>
            </a:pPr>
            <a:r>
              <a:rPr sz="1650" b="0" i="0">
                <a:solidFill>
                  <a:srgbClr val="073D28"/>
                </a:solidFill>
              </a:rPr>
              <a:t>TAE-GEUN &amp; ANDREA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57ED9-7BD5-4D71-9706-002EE95A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142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FBFD5-7F83-4098-BBAE-3C54CB6F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NEUE RICHTUNG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F8B64-1702-4115-BC0F-F601D107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28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3D28"/>
                </a:solidFill>
              </a:defRPr>
            </a:pPr>
            <a:r>
              <a:rPr sz="3600" b="1" i="0">
                <a:solidFill>
                  <a:srgbClr val="073D28"/>
                </a:solidFill>
              </a:rPr>
              <a:t>Mehr Einladungskarte, weniger Website-Overlay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369C8-7A88-4B4A-91A2-645482C5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44139"/>
                </a:solidFill>
              </a:defRPr>
            </a:pPr>
            <a:r>
              <a:rPr sz="1650" b="0" i="0">
                <a:solidFill>
                  <a:srgbClr val="344139"/>
                </a:solidFill>
              </a:rPr>
              <a:t>Die neuen Beispiele nehmen die Referenzen ernster: rahmendes Foto, Papierflaeche, feine Linien, Tannengruen und deutlich weniger Text ueber dem Bild.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9E929-8E0B-4BF1-8E8B-91FE95B1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71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D171F-79EC-4793-A2B3-63A0F506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73D28"/>
                </a:solidFill>
              </a:defRPr>
            </a:pPr>
            <a:r>
              <a:rPr sz="1875" b="0" i="0">
                <a:solidFill>
                  <a:srgbClr val="073D28"/>
                </a:solidFill>
              </a:rPr>
              <a:t>Tae-Geun Kim &amp; Andrea Karin Morgen</a:t>
            </a:r>
          </a:p>
        </p:txBody>
      </p:sp>
    </p:spTree>
    <p:extLst>
      <p:ext uri="{BB962C8B-B14F-4D97-AF65-F5344CB8AC3E}">
        <p14:creationId xmlns:p14="http://schemas.microsoft.com/office/powerpoint/2010/main" val="1032270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08D63-5BA5-4C31-9E1B-B02884D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VARIANTE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4D63D-B425-4E63-B516-70818D1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3D28"/>
                </a:solidFill>
              </a:defRPr>
            </a:pPr>
            <a:r>
              <a:rPr sz="2850" b="1" i="0">
                <a:solidFill>
                  <a:srgbClr val="073D28"/>
                </a:solidFill>
              </a:rPr>
              <a:t>Kartenartige Save-the-Date Seite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2623A-01ED-4D8D-985A-31B38A5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448"/>
                </a:solidFill>
              </a:defRPr>
            </a:pPr>
            <a:r>
              <a:rPr sz="1425" b="0" i="0">
                <a:solidFill>
                  <a:srgbClr val="465448"/>
                </a:solidFill>
              </a:rPr>
              <a:t>Nahe an der ersten Referenz: ein grosses, hell gerahmtes Foto, Papierflaeche und kein Textblock ueber den Gesichtern.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39056-FC3E-4881-8D62-FA50A54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"/>
            <a:ext cx="3467100" cy="62293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E62EF-AEE8-4BF8-8754-C6B0845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8D0C4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F8A13-B5C7-48E8-A8E7-9BD6F4E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10AAA-5C7D-4620-899D-0E5D00D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66750"/>
            <a:ext cx="270510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1D6"/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F8CBD-DB1F-4769-B28E-2BE6ACF9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2171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88B2E-2385-47EF-ADAC-54794CD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62650"/>
            <a:ext cx="2171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EF3DF-C381-4037-B280-53DA1FB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2324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7A8AB-83A7-4C01-B1CA-1A30BF36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2057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847e5640344f3"/>
          <a:srcRect xmlns:a="http://schemas.openxmlformats.org/drawingml/2006/main" l="16150" t="0" r="16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1752600"/>
            <a:ext cx="1943100" cy="2152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8B91D-50BB-4B45-A735-2647641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85950"/>
            <a:ext cx="68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89055"/>
                </a:solidFill>
              </a:defRPr>
            </a:pPr>
            <a:r>
              <a:rPr sz="1350" b="1" i="0">
                <a:solidFill>
                  <a:srgbClr val="B89055"/>
                </a:solidFill>
              </a:rPr>
              <a:t>SAVE</a:t>
            </a:r>
          </a:p>
          <a:p xmlns:a="http://schemas.openxmlformats.org/drawingml/2006/main">
            <a:pPr algn="ctr">
              <a:defRPr sz="1350" b="1" i="0">
                <a:solidFill>
                  <a:srgbClr val="B89055"/>
                </a:solidFill>
              </a:defRPr>
            </a:pPr>
            <a:r>
              <a:rPr sz="1350" b="1" i="0">
                <a:solidFill>
                  <a:srgbClr val="B89055"/>
                </a:solidFill>
              </a:rPr>
              <a:t>THE</a:t>
            </a:r>
          </a:p>
          <a:p xmlns:a="http://schemas.openxmlformats.org/drawingml/2006/main">
            <a:pPr algn="ctr">
              <a:defRPr sz="1350" b="1" i="0">
                <a:solidFill>
                  <a:srgbClr val="B89055"/>
                </a:solidFill>
              </a:defRPr>
            </a:pPr>
            <a:r>
              <a:rPr sz="1350" b="1" i="0">
                <a:solidFill>
                  <a:srgbClr val="B89055"/>
                </a:solidFill>
              </a:rPr>
              <a:t>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975A9-3D1D-46D3-9108-EB2D729B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73D28"/>
                </a:solidFill>
              </a:defRPr>
            </a:pPr>
            <a:r>
              <a:rPr sz="2025" b="0" i="0">
                <a:solidFill>
                  <a:srgbClr val="073D28"/>
                </a:solidFill>
              </a:rPr>
              <a:t>TAE-GEUN &amp; ANDREA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BAC21-FEF5-405A-8AE5-C24DFEB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1123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840FF-13A4-4E2F-9F1D-ABD768AE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673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E796E"/>
                </a:solidFill>
              </a:defRPr>
            </a:pPr>
            <a:r>
              <a:rPr sz="975" b="1" i="0">
                <a:solidFill>
                  <a:srgbClr val="6E796E"/>
                </a:solidFill>
              </a:rPr>
              <a:t>17  OCTOBER 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3F9E8-BB92-43B7-BBE5-1F8BFAF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53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E796E"/>
                </a:solidFill>
              </a:defRPr>
            </a:pPr>
            <a:r>
              <a:rPr sz="750" b="1" i="0">
                <a:solidFill>
                  <a:srgbClr val="6E796E"/>
                </a:solidFill>
              </a:rPr>
              <a:t>VENUEVINIA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09747-3783-4DE3-8CF8-9A490F60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B46E9-7F29-41D7-91DE-031DC40D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Wirkt wie eine digitale Version einer Papierkarte.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C92FB-7FFE-4111-82DC-7CE1C561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BA2C5-0051-4520-A1CF-56F85DF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Das Foto ist Hauptmotiv, aber die Daten bleiben klar lesbar.</a:t>
            </a:r>
          </a:p>
        </p:txBody>
      </p:sp>
    </p:spTree>
    <p:extLst>
      <p:ext uri="{BB962C8B-B14F-4D97-AF65-F5344CB8AC3E}">
        <p14:creationId xmlns:p14="http://schemas.microsoft.com/office/powerpoint/2010/main" val="429183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555DE-D370-4DED-AAF6-9A988345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VARIANTE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3B21E-27C8-4FA7-83A7-7C900C5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3D28"/>
                </a:solidFill>
              </a:defRPr>
            </a:pPr>
            <a:r>
              <a:rPr sz="2850" b="1" i="0">
                <a:solidFill>
                  <a:srgbClr val="073D28"/>
                </a:solidFill>
              </a:rPr>
              <a:t>Tannengruene Hochzeitskarte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1CCC3-3788-4525-BD0E-0BF3E869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448"/>
                </a:solidFill>
              </a:defRPr>
            </a:pPr>
            <a:r>
              <a:rPr sz="1425" b="0" i="0">
                <a:solidFill>
                  <a:srgbClr val="465448"/>
                </a:solidFill>
              </a:rPr>
              <a:t>Die zweite Referenz wird ruhiger interpretiert: Foto oben, weisse Karte unten, Namen gross und elegant.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45CF-D973-4C3A-BA4F-831B9765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"/>
            <a:ext cx="3467100" cy="62293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93EC5-E883-46FE-B2D4-45AB898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3D28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7EDBF-F174-402B-8048-2DEC5FF5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12833-2504-45F6-A117-ADC7479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85800"/>
            <a:ext cx="2705100" cy="52959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c3a609a8342f5"/>
          <a:srcRect xmlns:a="http://schemas.openxmlformats.org/drawingml/2006/main" l="7243" t="0" r="72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838200"/>
            <a:ext cx="232410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84861-1BBA-4986-9E3C-5E4606E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3048000" cy="11239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D9F78-BFA5-439C-BB1D-3F22F149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B89055"/>
                </a:solidFill>
              </a:defRPr>
            </a:pPr>
            <a:r>
              <a:rPr sz="2250" b="0" i="0">
                <a:solidFill>
                  <a:srgbClr val="B89055"/>
                </a:solidFill>
              </a:rPr>
              <a:t>Save the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17C41-5BF1-4AAF-BCB8-CCBB0560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8231C"/>
                </a:solidFill>
              </a:defRPr>
            </a:pPr>
            <a:r>
              <a:rPr sz="975" b="0" i="0">
                <a:solidFill>
                  <a:srgbClr val="18231C"/>
                </a:solidFill>
              </a:rPr>
              <a:t>For the wedding 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9BE1C-CD82-4679-A298-B820E18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2552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073D28"/>
                </a:solidFill>
              </a:defRPr>
            </a:pPr>
            <a:r>
              <a:rPr sz="2550" b="0" i="0">
                <a:solidFill>
                  <a:srgbClr val="073D28"/>
                </a:solidFill>
              </a:rPr>
              <a:t>Tae-Geun</a:t>
            </a:r>
          </a:p>
          <a:p xmlns:a="http://schemas.openxmlformats.org/drawingml/2006/main">
            <a:pPr algn="ctr">
              <a:defRPr sz="2550" b="0" i="0">
                <a:solidFill>
                  <a:srgbClr val="073D28"/>
                </a:solidFill>
              </a:defRPr>
            </a:pPr>
            <a:r>
              <a:rPr sz="2550" b="0" i="0">
                <a:solidFill>
                  <a:srgbClr val="073D28"/>
                </a:solidFill>
              </a:rPr>
              <a:t>&amp;</a:t>
            </a:r>
          </a:p>
          <a:p xmlns:a="http://schemas.openxmlformats.org/drawingml/2006/main">
            <a:pPr algn="ctr">
              <a:defRPr sz="2550" b="0" i="0">
                <a:solidFill>
                  <a:srgbClr val="073D28"/>
                </a:solidFill>
              </a:defRPr>
            </a:pPr>
            <a:r>
              <a:rPr sz="2550" b="0" i="0">
                <a:solidFill>
                  <a:srgbClr val="073D28"/>
                </a:solidFill>
              </a:rPr>
              <a:t>Andrea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12C3D-582B-49C1-A74F-B4879304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95900"/>
            <a:ext cx="1504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A509C-0952-4E4B-9CF3-7A68B7B4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0312A"/>
                </a:solidFill>
              </a:defRPr>
            </a:pPr>
            <a:r>
              <a:rPr sz="1950" b="1" i="0">
                <a:solidFill>
                  <a:srgbClr val="20312A"/>
                </a:solidFill>
              </a:rPr>
              <a:t>17.10.2026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90AB7-9D07-44FD-9787-B268222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29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E796E"/>
                </a:solidFill>
              </a:defRPr>
            </a:pPr>
            <a:r>
              <a:rPr sz="750" b="1" i="0">
                <a:solidFill>
                  <a:srgbClr val="6E796E"/>
                </a:solidFill>
              </a:rPr>
              <a:t>17:30 UHR   SAPHIRSAAL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A9172-EE26-44F5-A4A9-61D2B75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7CA2-3D6F-427F-9494-6C81C5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Am staerksten, wenn ihr eine klassische Einladung wollt.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C809E-D348-4969-80CF-C0ECC06C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59B62-B06B-4589-B611-B593CB8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Sehr einfach als erste Mobile-Sektion umzusetzen.</a:t>
            </a:r>
          </a:p>
        </p:txBody>
      </p:sp>
    </p:spTree>
    <p:extLst>
      <p:ext uri="{BB962C8B-B14F-4D97-AF65-F5344CB8AC3E}">
        <p14:creationId xmlns:p14="http://schemas.microsoft.com/office/powerpoint/2010/main" val="2019745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89B4F-4EAA-4882-8946-8CE1DBE9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VARIANTE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A0B37-76F6-49A1-B478-A84B36A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3D28"/>
                </a:solidFill>
              </a:defRPr>
            </a:pPr>
            <a:r>
              <a:rPr sz="2850" b="1" i="0">
                <a:solidFill>
                  <a:srgbClr val="073D28"/>
                </a:solidFill>
              </a:rPr>
              <a:t>Foto im Passepartout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62CCD-402E-469F-9D32-53FC49E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448"/>
                </a:solidFill>
              </a:defRPr>
            </a:pPr>
            <a:r>
              <a:rPr sz="1425" b="0" i="0">
                <a:solidFill>
                  <a:srgbClr val="465448"/>
                </a:solidFill>
              </a:rPr>
              <a:t>Eine hochwertige, ruhige Loesung: das Foto bekommt einen echten Passepartout-Rahmen wie bei einer gedruckten Karte.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75ABF-D459-4068-BC5C-C860C830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"/>
            <a:ext cx="3467100" cy="62293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8B22-5C34-44CD-8602-44925B3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33233-7819-4E35-AA61-C0563EB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4FCA9-5AB7-4EA8-A899-D5C05BE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810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7DAF9-ABF4-45E1-8529-A0A2660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71550"/>
            <a:ext cx="1981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D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08c50a5414c01"/>
          <a:srcRect xmlns:a="http://schemas.openxmlformats.org/drawingml/2006/main" l="17478" t="0" r="174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028700"/>
            <a:ext cx="1866900" cy="2152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9395A-06E9-4349-A848-016C24C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96E"/>
                </a:solidFill>
              </a:defRPr>
            </a:pPr>
            <a:r>
              <a:rPr sz="825" b="1" i="0">
                <a:solidFill>
                  <a:srgbClr val="6E796E"/>
                </a:solidFill>
              </a:rPr>
              <a:t>WIR HEIRATEN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0615-8778-4CAD-BB1C-BDE5F228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9580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73D28"/>
                </a:solidFill>
              </a:defRPr>
            </a:pPr>
            <a:r>
              <a:rPr sz="1875" b="0" i="0">
                <a:solidFill>
                  <a:srgbClr val="073D28"/>
                </a:solidFill>
              </a:rPr>
              <a:t>Tae-Geun Kim</a:t>
            </a:r>
          </a:p>
          <a:p xmlns:a="http://schemas.openxmlformats.org/drawingml/2006/main">
            <a:pPr algn="ctr">
              <a:defRPr sz="1875" b="0" i="0">
                <a:solidFill>
                  <a:srgbClr val="073D28"/>
                </a:solidFill>
              </a:defRPr>
            </a:pPr>
            <a:r>
              <a:rPr sz="1875" b="0" i="0">
                <a:solidFill>
                  <a:srgbClr val="073D28"/>
                </a:solidFill>
              </a:rPr>
              <a:t>und</a:t>
            </a:r>
          </a:p>
          <a:p xmlns:a="http://schemas.openxmlformats.org/drawingml/2006/main">
            <a:pPr algn="ctr">
              <a:defRPr sz="1875" b="0" i="0">
                <a:solidFill>
                  <a:srgbClr val="073D28"/>
                </a:solidFill>
              </a:defRPr>
            </a:pPr>
            <a:r>
              <a:rPr sz="1875" b="0" i="0">
                <a:solidFill>
                  <a:srgbClr val="073D28"/>
                </a:solidFill>
              </a:rPr>
              <a:t>Andrea Karin Morgen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51223-EBE1-4E0E-8131-27556F58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0D54C-DF91-44C2-975C-59599AF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E796E"/>
                </a:solidFill>
              </a:defRPr>
            </a:pPr>
            <a:r>
              <a:rPr sz="900" b="0" i="0">
                <a:solidFill>
                  <a:srgbClr val="6E796E"/>
                </a:solidFill>
              </a:rPr>
              <a:t>Samstag, 17. Oktober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9B9C0-F7AC-489F-901E-8060ECBB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293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E796E"/>
                </a:solidFill>
              </a:defRPr>
            </a:pPr>
            <a:r>
              <a:rPr sz="900" b="0" i="0">
                <a:solidFill>
                  <a:srgbClr val="6E796E"/>
                </a:solidFill>
              </a:rPr>
              <a:t>17:30 Uhr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1DC57-D3B9-4EF8-88BB-5BAAEE42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B7ABD-FCDC-486B-96D8-D9A313FC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Sehr edel und nah am Papierdesign.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14C3F-1E79-498E-9DA4-50BEC2A3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4F04E-D876-4D55-8D33-55D34F2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Besonders gut, weil das Foto nicht mehr wie ein Hintergrund wirkt.</a:t>
            </a:r>
          </a:p>
        </p:txBody>
      </p:sp>
    </p:spTree>
    <p:extLst>
      <p:ext uri="{BB962C8B-B14F-4D97-AF65-F5344CB8AC3E}">
        <p14:creationId xmlns:p14="http://schemas.microsoft.com/office/powerpoint/2010/main" val="307842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DBE71-1C77-4B3B-A032-3A04FAB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VARIANTE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21F42-4195-4495-A66F-FA6BCBB4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3D28"/>
                </a:solidFill>
              </a:defRPr>
            </a:pPr>
            <a:r>
              <a:rPr sz="2850" b="1" i="0">
                <a:solidFill>
                  <a:srgbClr val="073D28"/>
                </a:solidFill>
              </a:rPr>
              <a:t>Dunkle Karte mit hellem Foto-Fenster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45046-C19B-4C90-8D64-227C7C9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448"/>
                </a:solidFill>
              </a:defRPr>
            </a:pPr>
            <a:r>
              <a:rPr sz="1425" b="0" i="0">
                <a:solidFill>
                  <a:srgbClr val="465448"/>
                </a:solidFill>
              </a:rPr>
              <a:t>Tannengruen bleibt dominant, aber das Foto wird wie ein Fenster in die Karte gesetzt.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C8F36-871F-4061-8054-3E354CB8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"/>
            <a:ext cx="3467100" cy="62293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62138-78D9-44B9-A8C3-9312321B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3D28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85EB7-74C8-44F0-B6E9-CCA3717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10E3-1001-4156-8757-3EC2EA50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27432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D2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4BE0B-C7AC-468A-9A08-432B2BF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04900"/>
            <a:ext cx="2286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11430">
            <a:solidFill>
              <a:srgbClr val="B8905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c8edd56d24c52"/>
          <a:srcRect xmlns:a="http://schemas.openxmlformats.org/drawingml/2006/main" l="18110" t="0" r="18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1900" y="1219200"/>
            <a:ext cx="2057400" cy="2419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FD40-7576-4F6B-92A1-10CBE24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7F1E4"/>
                </a:solidFill>
              </a:defRPr>
            </a:pPr>
            <a:r>
              <a:rPr sz="1875" b="0" i="0">
                <a:solidFill>
                  <a:srgbClr val="F7F1E4"/>
                </a:solidFill>
              </a:rPr>
              <a:t>TAE-GEUN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81107-B1F5-4E75-8EAF-7E6034A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577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B89055"/>
                </a:solidFill>
              </a:defRPr>
            </a:pPr>
            <a:r>
              <a:rPr sz="2250" b="0" i="0">
                <a:solidFill>
                  <a:srgbClr val="B89055"/>
                </a:solidFill>
              </a:rPr>
              <a:t>&amp;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11EF3-7246-4334-9B87-822AABB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7F1E4"/>
                </a:solidFill>
              </a:defRPr>
            </a:pPr>
            <a:r>
              <a:rPr sz="1875" b="0" i="0">
                <a:solidFill>
                  <a:srgbClr val="F7F1E4"/>
                </a:solidFill>
              </a:rPr>
              <a:t>ANDREA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05CBD-31BE-4EC8-9767-161C259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1219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ABD81-64C8-4E6C-8056-8BFB4DE6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816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7F1E4"/>
                </a:solidFill>
              </a:defRPr>
            </a:pPr>
            <a:r>
              <a:rPr sz="900" b="1" i="0">
                <a:solidFill>
                  <a:srgbClr val="F7F1E4"/>
                </a:solidFill>
              </a:rPr>
              <a:t>17. OKTOBER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2DC4F-A1C5-4A21-83B1-2F2F6D4C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C3F60-3459-4CD0-A453-43CBA51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Wirkt festlich und moderner als die helle Karte.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4D1B6-6D21-4368-8230-C76A232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6E34A-534F-4BC4-9DFF-897E5723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Gut, wenn Tannengruen wirklich die Hauptfarbe sein soll.</a:t>
            </a:r>
          </a:p>
        </p:txBody>
      </p:sp>
    </p:spTree>
    <p:extLst>
      <p:ext uri="{BB962C8B-B14F-4D97-AF65-F5344CB8AC3E}">
        <p14:creationId xmlns:p14="http://schemas.microsoft.com/office/powerpoint/2010/main" val="199566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6D680C-344C-476C-8292-AB07897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VARIANTE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EEF7E-372C-4952-8079-2FCD5B7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3D28"/>
                </a:solidFill>
              </a:defRPr>
            </a:pPr>
            <a:r>
              <a:rPr sz="2850" b="1" i="0">
                <a:solidFill>
                  <a:srgbClr val="073D28"/>
                </a:solidFill>
              </a:rPr>
              <a:t>Magazin-Cover mit Papierstreifen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3C248-ED49-417E-A0C0-EE4BD01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448"/>
                </a:solidFill>
              </a:defRPr>
            </a:pPr>
            <a:r>
              <a:rPr sz="1425" b="0" i="0">
                <a:solidFill>
                  <a:srgbClr val="465448"/>
                </a:solidFill>
              </a:rPr>
              <a:t>Das Foto ist gross und emotional, die Informationen liegen aber auf hellen, kartenartigen Streifen.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C5EF2-D3DA-49D9-BAF0-9147FBA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"/>
            <a:ext cx="3467100" cy="62293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96894-62C7-408E-B203-9CB52A7F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3D28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D78BB-7E3E-4595-ADD9-77BED6F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796666cc54826"/>
          <a:srcRect xmlns:a="http://schemas.openxmlformats.org/drawingml/2006/main" l="29872" t="0" r="29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E4207-4633-42DE-8E5D-D7445D8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"/>
            <a:ext cx="3200400" cy="596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D2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7AA3B-3F8A-4666-B156-1384042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87630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92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C98F8-A9B3-47C4-B06F-4243AE3B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66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3D28"/>
                </a:solidFill>
              </a:defRPr>
            </a:pPr>
            <a:r>
              <a:rPr sz="1125" b="1" i="0">
                <a:solidFill>
                  <a:srgbClr val="073D28"/>
                </a:solidFill>
              </a:rPr>
              <a:t>SAVE THE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D355E-3607-4E61-95FD-388D856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954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9055"/>
                </a:solidFill>
              </a:defRPr>
            </a:pPr>
            <a:r>
              <a:rPr sz="1050" b="1" i="0">
                <a:solidFill>
                  <a:srgbClr val="B89055"/>
                </a:solidFill>
              </a:rPr>
              <a:t>17.10.2026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C909F-68A0-4CBA-A972-2162EA70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76750"/>
            <a:ext cx="2781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BC961-A7AB-4F97-8595-8A6373A7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073D28"/>
                </a:solidFill>
              </a:defRPr>
            </a:pPr>
            <a:r>
              <a:rPr sz="2250" b="0" i="0">
                <a:solidFill>
                  <a:srgbClr val="073D28"/>
                </a:solidFill>
              </a:rPr>
              <a:t>Tae-Geun &amp; Andrea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4E083-291E-4D93-BFF6-309631A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19700"/>
            <a:ext cx="1295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59DA7-14B4-4061-961F-57DCA1C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91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18231C"/>
                </a:solidFill>
              </a:defRPr>
            </a:pPr>
            <a:r>
              <a:rPr sz="900" b="0" i="0">
                <a:solidFill>
                  <a:srgbClr val="18231C"/>
                </a:solidFill>
              </a:rPr>
              <a:t>Venuevinia   Saphirsaal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36EC2-B36C-4CDE-A713-6741CA4B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392FB-124B-46CC-8FE8-28BE420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Deutlich fotozentrierter, aber nicht chaotisch.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9DA6D-6A5F-4687-B04F-79A05D3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0122A-264F-444D-A829-73CDFB9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8453B"/>
                </a:solidFill>
              </a:defRPr>
            </a:pPr>
            <a:r>
              <a:rPr sz="1275" b="0" i="0">
                <a:solidFill>
                  <a:srgbClr val="38453B"/>
                </a:solidFill>
              </a:rPr>
              <a:t>Die Papierstreifen geben dem Design den Einladungscharakter.</a:t>
            </a:r>
          </a:p>
        </p:txBody>
      </p:sp>
    </p:spTree>
    <p:extLst>
      <p:ext uri="{BB962C8B-B14F-4D97-AF65-F5344CB8AC3E}">
        <p14:creationId xmlns:p14="http://schemas.microsoft.com/office/powerpoint/2010/main" val="13930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3D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57D9A-39CB-4875-B375-75378906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9055"/>
                </a:solidFill>
              </a:defRPr>
            </a:pPr>
            <a:r>
              <a:rPr sz="900" b="1" i="0">
                <a:solidFill>
                  <a:srgbClr val="B89055"/>
                </a:solidFill>
              </a:rPr>
              <a:t>MEINE EMPFEHLUNG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B36D2-C372-4552-925F-0C963F3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F1E4"/>
                </a:solidFill>
              </a:defRPr>
            </a:pPr>
            <a:r>
              <a:rPr sz="3450" b="1" i="0">
                <a:solidFill>
                  <a:srgbClr val="F7F1E4"/>
                </a:solidFill>
              </a:rPr>
              <a:t>Nimm Variante 1 oder 2 als 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4406B-D5E2-4ACA-A392-722E0B5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BE5D4"/>
                </a:solidFill>
              </a:defRPr>
            </a:pPr>
            <a:r>
              <a:rPr sz="1650" b="0" i="0">
                <a:solidFill>
                  <a:srgbClr val="DBE5D4"/>
                </a:solidFill>
              </a:rPr>
              <a:t>Beide greifen deine Beispiele am klarsten auf: Karte statt Website, Foto als bewusst gerahmtes Motiv und Tannengruen als eleganter Hauptton.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41E3C-E416-492E-B8E8-CFAF2A2C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809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91B41-68DD-40D6-BFE3-E45A8B9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7F1E4"/>
                </a:solidFill>
              </a:defRPr>
            </a:pPr>
            <a:r>
              <a:rPr sz="1575" b="0" i="0">
                <a:solidFill>
                  <a:srgbClr val="F7F1E4"/>
                </a:solidFill>
              </a:rPr>
              <a:t>Variante 1 wirkt am romantischsten. Variante 2 ist die staerkste Vorlage fuer die echte Umsetzung, weil sie mobil sehr lesbar bleibt.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6CBD9-B0DC-4AFA-85AC-CD338B0C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1500"/>
            <a:ext cx="2705100" cy="50292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B74E3-0BCB-402A-8CB5-B14F4E1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4850"/>
            <a:ext cx="2438400" cy="47625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0B0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3BFDD-4EB2-4F0B-8F14-33898975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00100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680D2-FDF9-48E2-849E-BC29BE9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57300"/>
            <a:ext cx="1828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cce86114e4f7e"/>
          <a:srcRect xmlns:a="http://schemas.openxmlformats.org/drawingml/2006/main" l="13793" t="0" r="13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1390650"/>
            <a:ext cx="1600200" cy="1657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49C8B-AE1B-46D3-8DBD-6688678E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073D28"/>
                </a:solidFill>
              </a:defRPr>
            </a:pPr>
            <a:r>
              <a:rPr sz="1950" b="0" i="0">
                <a:solidFill>
                  <a:srgbClr val="073D28"/>
                </a:solidFill>
              </a:rPr>
              <a:t>Tae-Geun</a:t>
            </a:r>
          </a:p>
          <a:p xmlns:a="http://schemas.openxmlformats.org/drawingml/2006/main">
            <a:pPr algn="ctr">
              <a:defRPr sz="1950" b="0" i="0">
                <a:solidFill>
                  <a:srgbClr val="073D28"/>
                </a:solidFill>
              </a:defRPr>
            </a:pPr>
            <a:r>
              <a:rPr sz="1950" b="0" i="0">
                <a:solidFill>
                  <a:srgbClr val="073D28"/>
                </a:solidFill>
              </a:rPr>
              <a:t>&amp;</a:t>
            </a:r>
          </a:p>
          <a:p xmlns:a="http://schemas.openxmlformats.org/drawingml/2006/main">
            <a:pPr algn="ctr">
              <a:defRPr sz="1950" b="0" i="0">
                <a:solidFill>
                  <a:srgbClr val="073D28"/>
                </a:solidFill>
              </a:defRPr>
            </a:pPr>
            <a:r>
              <a:rPr sz="1950" b="0" i="0">
                <a:solidFill>
                  <a:srgbClr val="073D28"/>
                </a:solidFill>
              </a:rPr>
              <a:t>Andrea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645EC-95C7-4297-8892-815BC81E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1143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A8798-6B86-4071-B67D-D316E06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E796E"/>
                </a:solidFill>
              </a:defRPr>
            </a:pPr>
            <a:r>
              <a:rPr sz="825" b="0" i="0">
                <a:solidFill>
                  <a:srgbClr val="6E796E"/>
                </a:solidFill>
              </a:rPr>
              <a:t>17. Oktober 2026</a:t>
            </a:r>
          </a:p>
        </p:txBody>
      </p:sp>
    </p:spTree>
    <p:extLst>
      <p:ext uri="{BB962C8B-B14F-4D97-AF65-F5344CB8AC3E}">
        <p14:creationId xmlns:p14="http://schemas.microsoft.com/office/powerpoint/2010/main" val="1522371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2026-07-09T16:32:08.8610000Z</dcterms:created>
  <dcterms:modified xsi:type="dcterms:W3CDTF">2026-07-09T16:32:08.8610000Z</dcterms:modified>
</coreProperties>
</file>