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c01dddb8d1f4a9e" /><Relationship Type="http://schemas.openxmlformats.org/officeDocument/2006/relationships/extended-properties" Target="/docProps/app.xml" Id="R82f5d757299c4181" /><Relationship Type="http://schemas.openxmlformats.org/officeDocument/2006/relationships/officeDocument" Target="/ppt/presentation.xml" Id="Rc54a4a61b16744e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a74ba82803b4f1d"/>
  </p:sldMasterIdLst>
  <p:notesMasterIdLst>
    <p:notesMasterId xmlns:r="http://schemas.openxmlformats.org/officeDocument/2006/relationships" r:id="R9c4a64f349574cda"/>
  </p:notesMasterIdLst>
  <p:sldIdLst>
    <p:sldId xmlns:r="http://schemas.openxmlformats.org/officeDocument/2006/relationships" id="256" r:id="Rd31d21293d2546f4"/>
    <p:sldId xmlns:r="http://schemas.openxmlformats.org/officeDocument/2006/relationships" id="257" r:id="R31a404e49f394265"/>
    <p:sldId xmlns:r="http://schemas.openxmlformats.org/officeDocument/2006/relationships" id="258" r:id="Ra499695e5b58456f"/>
    <p:sldId xmlns:r="http://schemas.openxmlformats.org/officeDocument/2006/relationships" id="259" r:id="R2972694053014cf2"/>
    <p:sldId xmlns:r="http://schemas.openxmlformats.org/officeDocument/2006/relationships" id="260" r:id="Rd027213b63f34fdd"/>
    <p:sldId xmlns:r="http://schemas.openxmlformats.org/officeDocument/2006/relationships" id="261" r:id="R12e06e10a8d44ed7"/>
    <p:sldId xmlns:r="http://schemas.openxmlformats.org/officeDocument/2006/relationships" id="262" r:id="Rb334b64e6cde4ce7"/>
    <p:sldId xmlns:r="http://schemas.openxmlformats.org/officeDocument/2006/relationships" id="263" r:id="R26e1039ad2eb41f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fc65707ad3245e9" /><Relationship Type="http://schemas.openxmlformats.org/officeDocument/2006/relationships/slideMaster" Target="/ppt/slideMasters/slideMaster1.xml" Id="R3a74ba82803b4f1d" /><Relationship Type="http://schemas.openxmlformats.org/officeDocument/2006/relationships/notesMaster" Target="/ppt/notesMasters/notesMaster1.xml" Id="R9c4a64f349574cda" /><Relationship Type="http://schemas.openxmlformats.org/officeDocument/2006/relationships/presProps" Target="/ppt/presProps.xml" Id="Rcd321058416d4080" /><Relationship Type="http://schemas.openxmlformats.org/officeDocument/2006/relationships/tableStyles" Target="/ppt/tableStyles.xml" Id="R5babc629e8714ed4" /><Relationship Type="http://schemas.openxmlformats.org/officeDocument/2006/relationships/slide" Target="/ppt/slides/slide1.xml" Id="Rd31d21293d2546f4" /><Relationship Type="http://schemas.openxmlformats.org/officeDocument/2006/relationships/slide" Target="/ppt/slides/slide2.xml" Id="R31a404e49f394265" /><Relationship Type="http://schemas.openxmlformats.org/officeDocument/2006/relationships/slide" Target="/ppt/slides/slide3.xml" Id="Ra499695e5b58456f" /><Relationship Type="http://schemas.openxmlformats.org/officeDocument/2006/relationships/slide" Target="/ppt/slides/slide4.xml" Id="R2972694053014cf2" /><Relationship Type="http://schemas.openxmlformats.org/officeDocument/2006/relationships/slide" Target="/ppt/slides/slide5.xml" Id="Rd027213b63f34fdd" /><Relationship Type="http://schemas.openxmlformats.org/officeDocument/2006/relationships/slide" Target="/ppt/slides/slide6.xml" Id="R12e06e10a8d44ed7" /><Relationship Type="http://schemas.openxmlformats.org/officeDocument/2006/relationships/slide" Target="/ppt/slides/slide7.xml" Id="Rb334b64e6cde4ce7" /><Relationship Type="http://schemas.openxmlformats.org/officeDocument/2006/relationships/slide" Target="/ppt/slides/slide8.xml" Id="R26e1039ad2eb41f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4ab5c7e0215407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220a783a3414421" /><Relationship Type="http://schemas.openxmlformats.org/officeDocument/2006/relationships/notesMaster" Target="/ppt/notesMasters/notesMaster1.xml" Id="R68ff9f6517bf4b8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ec8250d0dbd40fc" /><Relationship Type="http://schemas.openxmlformats.org/officeDocument/2006/relationships/notesMaster" Target="/ppt/notesMasters/notesMaster1.xml" Id="R1cd4b10938ce4cb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644912cd9f44be3" /><Relationship Type="http://schemas.openxmlformats.org/officeDocument/2006/relationships/notesMaster" Target="/ppt/notesMasters/notesMaster1.xml" Id="R96e7e8d1102840c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9452ada07f749d9" /><Relationship Type="http://schemas.openxmlformats.org/officeDocument/2006/relationships/notesMaster" Target="/ppt/notesMasters/notesMaster1.xml" Id="R4d4f875f6135456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e83d5f0eaf943ca" /><Relationship Type="http://schemas.openxmlformats.org/officeDocument/2006/relationships/notesMaster" Target="/ppt/notesMasters/notesMaster1.xml" Id="Rce00439e19bd45e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8d79587c4604a47" /><Relationship Type="http://schemas.openxmlformats.org/officeDocument/2006/relationships/notesMaster" Target="/ppt/notesMasters/notesMaster1.xml" Id="Rc5fea41d9dec448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c100d36005b4f33" /><Relationship Type="http://schemas.openxmlformats.org/officeDocument/2006/relationships/notesMaster" Target="/ppt/notesMasters/notesMaster1.xml" Id="R0b468478eaa8474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c7d402492b241e0" /><Relationship Type="http://schemas.openxmlformats.org/officeDocument/2006/relationships/notesMaster" Target="/ppt/notesMasters/notesMaster1.xml" Id="Re0babe4401ee49b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02fba442d1443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c55abdb55254689" /><Relationship Type="http://schemas.openxmlformats.org/officeDocument/2006/relationships/slideLayout" Target="/ppt/slideLayouts/slideLayout1.xml" Id="R2c8af1efe179434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c8af1efe179434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5a2dca04654232" /><Relationship Type="http://schemas.openxmlformats.org/officeDocument/2006/relationships/image" Target="/ppt/media/image.jpeg" Id="R271b6715c7e14541" /><Relationship Type="http://schemas.openxmlformats.org/officeDocument/2006/relationships/notesSlide" Target="/ppt/notesSlides/notesSlide1.xml" Id="R44bc22d8e2ca4db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72490fcfbd40fd" /><Relationship Type="http://schemas.openxmlformats.org/officeDocument/2006/relationships/image" Target="/ppt/media/image2.jpeg" Id="Rdd67faf8901e47e2" /><Relationship Type="http://schemas.openxmlformats.org/officeDocument/2006/relationships/notesSlide" Target="/ppt/notesSlides/notesSlide2.xml" Id="R3cb0f32bdb0d49a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1c5413f9414a27" /><Relationship Type="http://schemas.openxmlformats.org/officeDocument/2006/relationships/image" Target="/ppt/media/image3.jpeg" Id="R8514d0d707a14ee4" /><Relationship Type="http://schemas.openxmlformats.org/officeDocument/2006/relationships/notesSlide" Target="/ppt/notesSlides/notesSlide3.xml" Id="Rfbad83fb7fb7400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a40c03a4e44490" /><Relationship Type="http://schemas.openxmlformats.org/officeDocument/2006/relationships/image" Target="/ppt/media/image4.jpeg" Id="R2582f4ceec5d44dc" /><Relationship Type="http://schemas.openxmlformats.org/officeDocument/2006/relationships/notesSlide" Target="/ppt/notesSlides/notesSlide4.xml" Id="R74f6f2a15ace435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28a61a99eb4ff5" /><Relationship Type="http://schemas.openxmlformats.org/officeDocument/2006/relationships/image" Target="/ppt/media/image5.jpeg" Id="R6d2c6f1db3584823" /><Relationship Type="http://schemas.openxmlformats.org/officeDocument/2006/relationships/notesSlide" Target="/ppt/notesSlides/notesSlide5.xml" Id="R97332c328803497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9ce21b3fde415b" /><Relationship Type="http://schemas.openxmlformats.org/officeDocument/2006/relationships/image" Target="/ppt/media/image6.jpeg" Id="R62a1386db5d94a3a" /><Relationship Type="http://schemas.openxmlformats.org/officeDocument/2006/relationships/notesSlide" Target="/ppt/notesSlides/notesSlide6.xml" Id="R5c3f4f85986540f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9a222307e743fb" /><Relationship Type="http://schemas.openxmlformats.org/officeDocument/2006/relationships/image" Target="/ppt/media/image7.jpeg" Id="R7e3500be58034e88" /><Relationship Type="http://schemas.openxmlformats.org/officeDocument/2006/relationships/notesSlide" Target="/ppt/notesSlides/notesSlide7.xml" Id="Rd80e05e65320477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86283186bb425f" /><Relationship Type="http://schemas.openxmlformats.org/officeDocument/2006/relationships/image" Target="/ppt/media/image8.jpeg" Id="Ra432a10933154104" /><Relationship Type="http://schemas.openxmlformats.org/officeDocument/2006/relationships/notesSlide" Target="/ppt/notesSlides/notesSlide8.xml" Id="R0514b602e9a54a6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0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1b6715c7e14541"/>
          <a:srcRect xmlns:a="http://schemas.openxmlformats.org/drawingml/2006/main" l="19271" t="0" r="1927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0"/>
            <a:ext cx="5619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E4E39F-E872-4AFE-8324-18D415F73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0"/>
            <a:ext cx="62865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7F0DF"/>
              </a:gs>
              <a:gs pos="22000">
                <a:srgbClr val="F7F0DF">
                  <a:alpha val="85000"/>
                </a:srgbClr>
              </a:gs>
              <a:gs pos="100000">
                <a:srgbClr val="0B3A20">
                  <a:alpha val="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BA452C-3894-43F0-B28A-695323AAC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9A66B"/>
                </a:solidFill>
              </a:defRPr>
            </a:pPr>
            <a:r>
              <a:rPr sz="900" b="1" i="0">
                <a:solidFill>
                  <a:srgbClr val="C9A66B"/>
                </a:solidFill>
              </a:rPr>
              <a:t>MOBILE WEDDING INVITATION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AD5BD6-4646-47AE-80C1-B9E4B38C5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58102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B3A20"/>
                </a:solidFill>
              </a:defRPr>
            </a:pPr>
            <a:r>
              <a:rPr sz="3450" b="1" i="0">
                <a:solidFill>
                  <a:srgbClr val="0B3A20"/>
                </a:solidFill>
              </a:rPr>
              <a:t>Schönere Fotoeinbindung für eure digitale Einladung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EBD698-B378-4785-9502-3C058D476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5000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314334"/>
                </a:solidFill>
              </a:defRPr>
            </a:pPr>
            <a:r>
              <a:rPr sz="1650" b="0" i="0">
                <a:solidFill>
                  <a:srgbClr val="314334"/>
                </a:solidFill>
              </a:rPr>
              <a:t>Fünf Designrichtungen, die das Originalfoto ruhiger, hochwertiger und besser lesbar einsetzen - mit der bestehenden grünen Farbwelt.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C812D4-831E-4594-9DF6-04762D123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76750"/>
            <a:ext cx="1809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66B"/>
          </a:solidFill>
          <a:ln xmlns:a="http://schemas.openxmlformats.org/drawingml/2006/main" w="0">
            <a:solidFill>
              <a:srgbClr val="C9A66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AD63BC-EC78-48B0-BFFB-9B42BF011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053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B3A20"/>
                </a:solidFill>
              </a:defRPr>
            </a:pPr>
            <a:r>
              <a:rPr sz="1800" b="0" i="0">
                <a:solidFill>
                  <a:srgbClr val="0B3A20"/>
                </a:solidFill>
              </a:rPr>
              <a:t>Tae-Geun Kim &amp; Andrea Karin Morgen</a:t>
            </a:r>
          </a:p>
        </p:txBody>
      </p:sp>
    </p:spTree>
    <p:extLst>
      <p:ext uri="{BB962C8B-B14F-4D97-AF65-F5344CB8AC3E}">
        <p14:creationId xmlns:p14="http://schemas.microsoft.com/office/powerpoint/2010/main" val="10481166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8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B268F7-EDD1-4E9E-8A31-36D9983E6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676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3A20"/>
                </a:solidFill>
              </a:defRPr>
            </a:pPr>
            <a:r>
              <a:rPr sz="2850" b="1" i="0">
                <a:solidFill>
                  <a:srgbClr val="0B3A20"/>
                </a:solidFill>
              </a:rPr>
              <a:t>Das Foto braucht mehr Ruhe und eine klarere Bühne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CBCCD5-808E-4D61-96C9-5716150B9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425044"/>
                </a:solidFill>
              </a:defRPr>
            </a:pPr>
            <a:r>
              <a:rPr sz="1575" b="0" i="0">
                <a:solidFill>
                  <a:srgbClr val="425044"/>
                </a:solidFill>
              </a:rPr>
              <a:t>Im aktuellen Entwurf liegt der Textblock schwer über den Gesichtern. Die Farbe funktioniert sehr gut, aber Foto und Einladung kämpfen um Aufmerksamkeit.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34FD1A-6FAC-42E0-A8B8-A9C59B5B3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352425"/>
            <a:ext cx="2400300" cy="59626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01510"/>
          </a:solidFill>
          <a:ln xmlns:a="http://schemas.openxmlformats.org/drawingml/2006/main" w="9525">
            <a:solidFill>
              <a:srgbClr val="10151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F7F36C-356E-4052-ABB8-A0CCB4E3C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7200"/>
            <a:ext cx="2190750" cy="5753100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0B3A20"/>
          </a:solidFill>
          <a:ln xmlns:a="http://schemas.openxmlformats.org/drawingml/2006/main" w="9525">
            <a:solidFill>
              <a:srgbClr val="1F2A2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082E12-EB5D-48EC-BFAA-3E60E5833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561975"/>
            <a:ext cx="80010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1510"/>
          </a:solidFill>
          <a:ln xmlns:a="http://schemas.openxmlformats.org/drawingml/2006/main" w="0">
            <a:solidFill>
              <a:srgbClr val="101510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67faf8901e47e2"/>
          <a:srcRect xmlns:a="http://schemas.openxmlformats.org/drawingml/2006/main" l="9781" t="0" r="978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05750" y="647700"/>
            <a:ext cx="2000250" cy="5372100"/>
          </a:xfrm>
          <a:prstGeom xmlns:a="http://schemas.openxmlformats.org/drawingml/2006/main" prst="roundRect">
            <a:avLst>
              <a:gd name="adj" fmla="val 7619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AC7B73-BCEF-42C2-A904-FB1E57FF6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9A66B"/>
                </a:solidFill>
              </a:defRPr>
            </a:pPr>
            <a:r>
              <a:rPr sz="900" b="1" i="0">
                <a:solidFill>
                  <a:srgbClr val="C9A66B"/>
                </a:solidFill>
              </a:rPr>
              <a:t>GESTALTUNGSPRINZIP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BBFC37-0F6F-4BE5-B8CD-D179A9DA1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5286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344238"/>
                </a:solidFill>
              </a:defRPr>
            </a:pPr>
            <a:r>
              <a:rPr sz="1350" b="0" i="0">
                <a:solidFill>
                  <a:srgbClr val="344238"/>
                </a:solidFill>
              </a:rPr>
              <a:t>Gesichter nicht mit großen Textflächen überdecken.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A88239-A2CA-4AC1-AECE-C8FD5A6EB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581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344238"/>
                </a:solidFill>
              </a:defRPr>
            </a:pPr>
            <a:r>
              <a:rPr sz="1350" b="0" i="0">
                <a:solidFill>
                  <a:srgbClr val="344238"/>
                </a:solidFill>
              </a:rPr>
              <a:t>Das Foto entweder groß und weich inszenieren oder bewusst rahmen.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04306C-8C86-4775-8E56-BC030BD5B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344238"/>
                </a:solidFill>
              </a:defRPr>
            </a:pPr>
            <a:r>
              <a:rPr sz="1350" b="0" i="0">
                <a:solidFill>
                  <a:srgbClr val="344238"/>
                </a:solidFill>
              </a:rPr>
              <a:t>Die wichtigen Daten auf ruhigen Farbflächen platzieren.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2FDF04-2458-4F2C-8192-63E95E218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5572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344238"/>
                </a:solidFill>
              </a:defRPr>
            </a:pPr>
            <a:r>
              <a:rPr sz="1350" b="0" i="0">
                <a:solidFill>
                  <a:srgbClr val="344238"/>
                </a:solidFill>
              </a:rPr>
              <a:t>Creme und Gold als kleine Akzente nutzen, damit Grün elegant bleibt.</a:t>
            </a:r>
          </a:p>
        </p:txBody>
      </p:sp>
    </p:spTree>
    <p:extLst>
      <p:ext uri="{BB962C8B-B14F-4D97-AF65-F5344CB8AC3E}">
        <p14:creationId xmlns:p14="http://schemas.microsoft.com/office/powerpoint/2010/main" val="14124914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8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6DBD4B-6D73-4636-A9A0-3DB6F38CD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9A66B"/>
                </a:solidFill>
              </a:defRPr>
            </a:pPr>
            <a:r>
              <a:rPr sz="900" b="1" i="0">
                <a:solidFill>
                  <a:srgbClr val="C9A66B"/>
                </a:solidFill>
              </a:rPr>
              <a:t>OPTION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74F7FB-B99D-439E-9BB6-0A267AA1D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4191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B3A20"/>
                </a:solidFill>
              </a:defRPr>
            </a:pPr>
            <a:r>
              <a:rPr sz="2700" b="1" i="0">
                <a:solidFill>
                  <a:srgbClr val="0B3A20"/>
                </a:solidFill>
              </a:rPr>
              <a:t>Full-bleed Foto mit weichem grünen Verlauf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D08D43-F4B0-4463-8DD1-9E6121EDD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19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405043"/>
                </a:solidFill>
              </a:defRPr>
            </a:pPr>
            <a:r>
              <a:rPr sz="1425" b="0" i="0">
                <a:solidFill>
                  <a:srgbClr val="405043"/>
                </a:solidFill>
              </a:rPr>
              <a:t>Das Foto wird emotionaler, weil es die ganze Einladung trägt. Der Text sitzt unten auf einer ruhigen grünen Zone.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D0CD4E-53E8-44A8-8DBF-1293944E0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71475"/>
            <a:ext cx="3067050" cy="5962650"/>
          </a:xfrm>
          <a:prstGeom xmlns:a="http://schemas.openxmlformats.org/drawingml/2006/main" prst="roundRect">
            <a:avLst>
              <a:gd name="adj" fmla="val 7453"/>
            </a:avLst>
          </a:prstGeom>
          <a:solidFill xmlns:a="http://schemas.openxmlformats.org/drawingml/2006/main">
            <a:srgbClr val="101510"/>
          </a:solidFill>
          <a:ln xmlns:a="http://schemas.openxmlformats.org/drawingml/2006/main" w="9525">
            <a:solidFill>
              <a:srgbClr val="10151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D6C1D2-7385-4C61-8CEC-72CD1D63A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6250"/>
            <a:ext cx="2857500" cy="57531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B3A20"/>
          </a:solidFill>
          <a:ln xmlns:a="http://schemas.openxmlformats.org/drawingml/2006/main" w="9525">
            <a:solidFill>
              <a:srgbClr val="1F2A2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5F7CBC-DFFD-4B6F-9DE8-4E849E80A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81025"/>
            <a:ext cx="80010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1510"/>
          </a:solidFill>
          <a:ln xmlns:a="http://schemas.openxmlformats.org/drawingml/2006/main" w="0">
            <a:solidFill>
              <a:srgbClr val="101510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14d0d707a14ee4"/>
          <a:srcRect xmlns:a="http://schemas.openxmlformats.org/drawingml/2006/main" l="31374" t="0" r="3137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476250"/>
            <a:ext cx="2857500" cy="5753100"/>
          </a:xfrm>
          <a:prstGeom xmlns:a="http://schemas.openxmlformats.org/drawingml/2006/main" prst="roundRect">
            <a:avLst>
              <a:gd name="adj" fmla="val 8000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BE6219-8CB2-43D2-9581-1A9E21995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48050"/>
            <a:ext cx="2857500" cy="2781300"/>
          </a:xfrm>
          <a:prstGeom xmlns:a="http://schemas.openxmlformats.org/drawingml/2006/main" prst="roundRect">
            <a:avLst>
              <a:gd name="adj" fmla="val 8219"/>
            </a:avLst>
          </a:prstGeom>
          <a:gradFill xmlns:a="http://schemas.openxmlformats.org/drawingml/2006/main">
            <a:gsLst>
              <a:gs pos="0">
                <a:srgbClr val="0B3A20"/>
              </a:gs>
              <a:gs pos="58000">
                <a:srgbClr val="0B3A20">
                  <a:alpha val="94000"/>
                </a:srgbClr>
              </a:gs>
              <a:gs pos="100000">
                <a:srgbClr val="0B3A20">
                  <a:alpha val="0"/>
                </a:srgbClr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883697-2FBF-43A0-BA91-572AFBC79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695700"/>
            <a:ext cx="2209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D9DFCD"/>
                </a:solidFill>
              </a:defRPr>
            </a:pPr>
            <a:r>
              <a:rPr sz="750" b="1" i="0">
                <a:solidFill>
                  <a:srgbClr val="D9DFCD"/>
                </a:solidFill>
              </a:rPr>
              <a:t>WIR HEIRATEN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C17909-3726-47A8-AD42-6E184CB5E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038600"/>
            <a:ext cx="2209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F7F0DF"/>
                </a:solidFill>
              </a:defRPr>
            </a:pPr>
            <a:r>
              <a:rPr sz="2250" b="1" i="0">
                <a:solidFill>
                  <a:srgbClr val="F7F0DF"/>
                </a:solidFill>
              </a:rPr>
              <a:t>Tae-Geun</a:t>
            </a:r>
          </a:p>
          <a:p xmlns:a="http://schemas.openxmlformats.org/drawingml/2006/main">
            <a:pPr algn="ctr">
              <a:defRPr sz="2250" b="1" i="0">
                <a:solidFill>
                  <a:srgbClr val="F7F0DF"/>
                </a:solidFill>
              </a:defRPr>
            </a:pPr>
            <a:r>
              <a:rPr sz="2250" b="1" i="0">
                <a:solidFill>
                  <a:srgbClr val="F7F0DF"/>
                </a:solidFill>
              </a:rPr>
              <a:t>&amp;</a:t>
            </a:r>
          </a:p>
          <a:p xmlns:a="http://schemas.openxmlformats.org/drawingml/2006/main">
            <a:pPr algn="ctr">
              <a:defRPr sz="2250" b="1" i="0">
                <a:solidFill>
                  <a:srgbClr val="F7F0DF"/>
                </a:solidFill>
              </a:defRPr>
            </a:pPr>
            <a:r>
              <a:rPr sz="2250" b="1" i="0">
                <a:solidFill>
                  <a:srgbClr val="F7F0DF"/>
                </a:solidFill>
              </a:rPr>
              <a:t>Andrea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73D63E-FBAE-4037-AAF9-D93B4A403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5353050"/>
            <a:ext cx="1257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66B"/>
          </a:solidFill>
          <a:ln xmlns:a="http://schemas.openxmlformats.org/drawingml/2006/main" w="0">
            <a:solidFill>
              <a:srgbClr val="C9A66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010408-169F-4B0A-B5FE-590244C10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543550"/>
            <a:ext cx="228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7F0DF"/>
                </a:solidFill>
              </a:defRPr>
            </a:pPr>
            <a:r>
              <a:rPr sz="825" b="0" i="0">
                <a:solidFill>
                  <a:srgbClr val="F7F0DF"/>
                </a:solidFill>
              </a:rPr>
              <a:t>Samstag, 17. Oktober 2026</a:t>
            </a:r>
          </a:p>
          <a:p xmlns:a="http://schemas.openxmlformats.org/drawingml/2006/main">
            <a:pPr algn="ctr">
              <a:defRPr sz="825" b="0" i="0">
                <a:solidFill>
                  <a:srgbClr val="F7F0DF"/>
                </a:solidFill>
              </a:defRPr>
            </a:pPr>
            <a:r>
              <a:rPr sz="825" b="0" i="0">
                <a:solidFill>
                  <a:srgbClr val="F7F0DF"/>
                </a:solidFill>
              </a:rPr>
              <a:t>17:30 Uhr</a:t>
            </a:r>
          </a:p>
          <a:p xmlns:a="http://schemas.openxmlformats.org/drawingml/2006/main">
            <a:pPr algn="ctr">
              <a:defRPr sz="825" b="0" i="0">
                <a:solidFill>
                  <a:srgbClr val="F7F0DF"/>
                </a:solidFill>
              </a:defRPr>
            </a:pPr>
            <a:r>
              <a:rPr sz="825" b="0" i="0">
                <a:solidFill>
                  <a:srgbClr val="F7F0DF"/>
                </a:solidFill>
              </a:rPr>
              <a:t>Venuevinia - 3. Etage, Saphirsaal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647B8F-06B8-49B6-A1BD-E65EA9509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9A66B"/>
                </a:solidFill>
              </a:defRPr>
            </a:pPr>
            <a:r>
              <a:rPr sz="900" b="1" i="0">
                <a:solidFill>
                  <a:srgbClr val="C9A66B"/>
                </a:solidFill>
              </a:rPr>
              <a:t>WARUM ES FUNKTIONIERT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B1FB2A-5E8A-4848-8986-F99BE7056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519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344238"/>
                </a:solidFill>
              </a:defRPr>
            </a:pPr>
            <a:r>
              <a:rPr sz="1350" b="0" i="0">
                <a:solidFill>
                  <a:srgbClr val="344238"/>
                </a:solidFill>
              </a:rPr>
              <a:t>Das Bild fühlt sich nicht ausgeschnitten an.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36B7F6-D60F-4AAE-BC5C-1F4AB9C04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344238"/>
                </a:solidFill>
              </a:defRPr>
            </a:pPr>
            <a:r>
              <a:rPr sz="1350" b="0" i="0">
                <a:solidFill>
                  <a:srgbClr val="344238"/>
                </a:solidFill>
              </a:rPr>
              <a:t>Die Gesichter bleiben frei, der Blick bleibt beim Paar.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EB062B-4B5E-4C52-8914-5F888456B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344238"/>
                </a:solidFill>
              </a:defRPr>
            </a:pPr>
            <a:r>
              <a:rPr sz="1350" b="0" i="0">
                <a:solidFill>
                  <a:srgbClr val="344238"/>
                </a:solidFill>
              </a:rPr>
              <a:t>Der grüne Verlauf verbindet Foto und Papierfarbwelt.</a:t>
            </a:r>
          </a:p>
        </p:txBody>
      </p:sp>
    </p:spTree>
    <p:extLst>
      <p:ext uri="{BB962C8B-B14F-4D97-AF65-F5344CB8AC3E}">
        <p14:creationId xmlns:p14="http://schemas.microsoft.com/office/powerpoint/2010/main" val="16318395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8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8F4511-B0B1-4FCC-AE85-B85F6A99E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9A66B"/>
                </a:solidFill>
              </a:defRPr>
            </a:pPr>
            <a:r>
              <a:rPr sz="900" b="1" i="0">
                <a:solidFill>
                  <a:srgbClr val="C9A66B"/>
                </a:solidFill>
              </a:rPr>
              <a:t>OPTION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147AD9-2AED-4C4E-9E5B-77C5BD48A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4191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B3A20"/>
                </a:solidFill>
              </a:defRPr>
            </a:pPr>
            <a:r>
              <a:rPr sz="2700" b="1" i="0">
                <a:solidFill>
                  <a:srgbClr val="0B3A20"/>
                </a:solidFill>
              </a:rPr>
              <a:t>Editorialer Ausschnitt mit großem Namensfeld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F5236D-9E74-4848-A3C1-2E74CF3BC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19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405043"/>
                </a:solidFill>
              </a:defRPr>
            </a:pPr>
            <a:r>
              <a:rPr sz="1425" b="0" i="0">
                <a:solidFill>
                  <a:srgbClr val="405043"/>
                </a:solidFill>
              </a:rPr>
              <a:t>Das Foto wird bewusst wie ein Magazin-Cover gecroppt. Der Einladungstext bekommt eine elegante, klare Fläche.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5930C9-3C28-4153-BADA-510B5FC63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71475"/>
            <a:ext cx="3067050" cy="5962650"/>
          </a:xfrm>
          <a:prstGeom xmlns:a="http://schemas.openxmlformats.org/drawingml/2006/main" prst="roundRect">
            <a:avLst>
              <a:gd name="adj" fmla="val 7453"/>
            </a:avLst>
          </a:prstGeom>
          <a:solidFill xmlns:a="http://schemas.openxmlformats.org/drawingml/2006/main">
            <a:srgbClr val="101510"/>
          </a:solidFill>
          <a:ln xmlns:a="http://schemas.openxmlformats.org/drawingml/2006/main" w="9525">
            <a:solidFill>
              <a:srgbClr val="10151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24F664-7517-4449-9247-1E90C206F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6250"/>
            <a:ext cx="2857500" cy="57531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7F0DF"/>
          </a:solidFill>
          <a:ln xmlns:a="http://schemas.openxmlformats.org/drawingml/2006/main" w="9525">
            <a:solidFill>
              <a:srgbClr val="1F2A2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FE5461-2D3D-49BF-B96E-65A3EF2DF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81025"/>
            <a:ext cx="80010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1510"/>
          </a:solidFill>
          <a:ln xmlns:a="http://schemas.openxmlformats.org/drawingml/2006/main" w="0">
            <a:solidFill>
              <a:srgbClr val="101510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82f4ceec5d44dc"/>
          <a:srcRect xmlns:a="http://schemas.openxmlformats.org/drawingml/2006/main" l="21429" t="0" r="2142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24750" y="838200"/>
            <a:ext cx="2286000" cy="3000375"/>
          </a:xfrm>
          <a:prstGeom xmlns:a="http://schemas.openxmlformats.org/drawingml/2006/main" prst="roundRect">
            <a:avLst>
              <a:gd name="adj" fmla="val 666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F036AE-799F-4602-895E-6FD85DC13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905250"/>
            <a:ext cx="243840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3A20"/>
          </a:solidFill>
          <a:ln xmlns:a="http://schemas.openxmlformats.org/drawingml/2006/main" w="11430">
            <a:solidFill>
              <a:srgbClr val="C9A66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BAB4A5-95F8-44B5-AD8E-58AD10C51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143375"/>
            <a:ext cx="2019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D9DFCD"/>
                </a:solidFill>
              </a:defRPr>
            </a:pPr>
            <a:r>
              <a:rPr sz="750" b="1" i="0">
                <a:solidFill>
                  <a:srgbClr val="D9DFCD"/>
                </a:solidFill>
              </a:rPr>
              <a:t>WIR HEIRATEN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924D1A-136C-4839-8E60-96B9DE0F4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438650"/>
            <a:ext cx="2171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7F0DF"/>
                </a:solidFill>
              </a:defRPr>
            </a:pPr>
            <a:r>
              <a:rPr sz="1650" b="1" i="0">
                <a:solidFill>
                  <a:srgbClr val="F7F0DF"/>
                </a:solidFill>
              </a:rPr>
              <a:t>Tae-Geun Kim</a:t>
            </a:r>
          </a:p>
          <a:p xmlns:a="http://schemas.openxmlformats.org/drawingml/2006/main">
            <a:pPr algn="ctr">
              <a:defRPr sz="1650" b="1" i="0">
                <a:solidFill>
                  <a:srgbClr val="F7F0DF"/>
                </a:solidFill>
              </a:defRPr>
            </a:pPr>
            <a:r>
              <a:rPr sz="1650" b="1" i="0">
                <a:solidFill>
                  <a:srgbClr val="F7F0DF"/>
                </a:solidFill>
              </a:rPr>
              <a:t>und</a:t>
            </a:r>
          </a:p>
          <a:p xmlns:a="http://schemas.openxmlformats.org/drawingml/2006/main">
            <a:pPr algn="ctr">
              <a:defRPr sz="1650" b="1" i="0">
                <a:solidFill>
                  <a:srgbClr val="F7F0DF"/>
                </a:solidFill>
              </a:defRPr>
            </a:pPr>
            <a:r>
              <a:rPr sz="1650" b="1" i="0">
                <a:solidFill>
                  <a:srgbClr val="F7F0DF"/>
                </a:solidFill>
              </a:rPr>
              <a:t>Andrea Karin Morgen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E2D0EF-2393-4C75-95AD-49C4DBFE5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353050"/>
            <a:ext cx="12763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66B"/>
          </a:solidFill>
          <a:ln xmlns:a="http://schemas.openxmlformats.org/drawingml/2006/main" w="0">
            <a:solidFill>
              <a:srgbClr val="C9A66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8FD69D-6455-4323-BE3D-760497E7E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5054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F7F0DF"/>
                </a:solidFill>
              </a:defRPr>
            </a:pPr>
            <a:r>
              <a:rPr sz="900" b="0" i="0">
                <a:solidFill>
                  <a:srgbClr val="F7F0DF"/>
                </a:solidFill>
              </a:rPr>
              <a:t>17. Oktober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A28386-94C9-4AC4-98DE-A9F7FB5D5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6675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66B"/>
          </a:solidFill>
          <a:ln xmlns:a="http://schemas.openxmlformats.org/drawingml/2006/main" w="0">
            <a:solidFill>
              <a:srgbClr val="C9A66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30369F-F183-40B5-80D9-DEC56509C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9A66B"/>
                </a:solidFill>
              </a:defRPr>
            </a:pPr>
            <a:r>
              <a:rPr sz="900" b="1" i="0">
                <a:solidFill>
                  <a:srgbClr val="C9A66B"/>
                </a:solidFill>
              </a:rPr>
              <a:t>WARUM ES FUNKTIONIERT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5B5C3B-EA7F-4511-A484-93B81F822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5572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344238"/>
                </a:solidFill>
              </a:defRPr>
            </a:pPr>
            <a:r>
              <a:rPr sz="1350" b="0" i="0">
                <a:solidFill>
                  <a:srgbClr val="344238"/>
                </a:solidFill>
              </a:rPr>
              <a:t>Die Fotoecke wirkt absichtlich gestaltet statt zufällig hinterlegt.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263E97-A230-4BDF-B589-8C43A7624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344238"/>
                </a:solidFill>
              </a:defRPr>
            </a:pPr>
            <a:r>
              <a:rPr sz="1350" b="0" i="0">
                <a:solidFill>
                  <a:srgbClr val="344238"/>
                </a:solidFill>
              </a:rPr>
              <a:t>Die Namen bekommen einen hochwertigen Auftritt.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3B43FC-B4EC-445C-BD5A-98BD44F7C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542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344238"/>
                </a:solidFill>
              </a:defRPr>
            </a:pPr>
            <a:r>
              <a:rPr sz="1350" b="0" i="0">
                <a:solidFill>
                  <a:srgbClr val="344238"/>
                </a:solidFill>
              </a:rPr>
              <a:t>Besonders gut, wenn die Einladung eher klassisch wirken soll.</a:t>
            </a:r>
          </a:p>
        </p:txBody>
      </p:sp>
    </p:spTree>
    <p:extLst>
      <p:ext uri="{BB962C8B-B14F-4D97-AF65-F5344CB8AC3E}">
        <p14:creationId xmlns:p14="http://schemas.microsoft.com/office/powerpoint/2010/main" val="6176348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8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356F28-E1A4-4986-9BB8-8986869CB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9A66B"/>
                </a:solidFill>
              </a:defRPr>
            </a:pPr>
            <a:r>
              <a:rPr sz="900" b="1" i="0">
                <a:solidFill>
                  <a:srgbClr val="C9A66B"/>
                </a:solidFill>
              </a:rPr>
              <a:t>OPTION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B73186-FE20-4150-970C-E72C653E4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4191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B3A20"/>
                </a:solidFill>
              </a:defRPr>
            </a:pPr>
            <a:r>
              <a:rPr sz="2700" b="1" i="0">
                <a:solidFill>
                  <a:srgbClr val="0B3A20"/>
                </a:solidFill>
              </a:rPr>
              <a:t>Foto als ruhiger Header, Einladung darunter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DCE07B-7CF8-47CF-B897-07EB97E37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19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405043"/>
                </a:solidFill>
              </a:defRPr>
            </a:pPr>
            <a:r>
              <a:rPr sz="1425" b="0" i="0">
                <a:solidFill>
                  <a:srgbClr val="405043"/>
                </a:solidFill>
              </a:rPr>
              <a:t>Die obere Bildfläche zeigt den Moment, darunter bleibt alles gut lesbar. Das wirkt mobile-nativ und sehr aufgeräumt.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BC7220-B767-4567-93BC-859928624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71475"/>
            <a:ext cx="3067050" cy="5962650"/>
          </a:xfrm>
          <a:prstGeom xmlns:a="http://schemas.openxmlformats.org/drawingml/2006/main" prst="roundRect">
            <a:avLst>
              <a:gd name="adj" fmla="val 7453"/>
            </a:avLst>
          </a:prstGeom>
          <a:solidFill xmlns:a="http://schemas.openxmlformats.org/drawingml/2006/main">
            <a:srgbClr val="101510"/>
          </a:solidFill>
          <a:ln xmlns:a="http://schemas.openxmlformats.org/drawingml/2006/main" w="9525">
            <a:solidFill>
              <a:srgbClr val="10151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EB913D-CB78-43EF-8B5D-876D84BBC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6250"/>
            <a:ext cx="2857500" cy="57531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B3A20"/>
          </a:solidFill>
          <a:ln xmlns:a="http://schemas.openxmlformats.org/drawingml/2006/main" w="9525">
            <a:solidFill>
              <a:srgbClr val="1F2A2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62FBD5-5E04-4F45-B74B-18AD47CFF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81025"/>
            <a:ext cx="80010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1510"/>
          </a:solidFill>
          <a:ln xmlns:a="http://schemas.openxmlformats.org/drawingml/2006/main" w="0">
            <a:solidFill>
              <a:srgbClr val="101510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2c6f1db3584823"/>
          <a:srcRect xmlns:a="http://schemas.openxmlformats.org/drawingml/2006/main" l="6731" t="0" r="673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476250"/>
            <a:ext cx="2857500" cy="2476500"/>
          </a:xfrm>
          <a:prstGeom xmlns:a="http://schemas.openxmlformats.org/drawingml/2006/main" prst="roundRect">
            <a:avLst>
              <a:gd name="adj" fmla="val 9231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713C9B-FCA6-48A4-BDA7-57ADA47F6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28875"/>
            <a:ext cx="2857500" cy="52387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B3A20"/>
              </a:gs>
              <a:gs pos="100000">
                <a:srgbClr val="0B3A20">
                  <a:alpha val="0"/>
                </a:srgbClr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8EE94F-9049-4CBD-B897-40659AB45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219450"/>
            <a:ext cx="2057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D9DFCD"/>
                </a:solidFill>
              </a:defRPr>
            </a:pPr>
            <a:r>
              <a:rPr sz="750" b="1" i="0">
                <a:solidFill>
                  <a:srgbClr val="D9DFCD"/>
                </a:solidFill>
              </a:rPr>
              <a:t>WIR HEIRATEN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571BE2-496E-4148-A8AF-603308524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619500"/>
            <a:ext cx="2324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7F0DF"/>
                </a:solidFill>
              </a:defRPr>
            </a:pPr>
            <a:r>
              <a:rPr sz="1875" b="1" i="0">
                <a:solidFill>
                  <a:srgbClr val="F7F0DF"/>
                </a:solidFill>
              </a:rPr>
              <a:t>Tae-Geun Kim</a:t>
            </a:r>
          </a:p>
          <a:p xmlns:a="http://schemas.openxmlformats.org/drawingml/2006/main">
            <a:pPr algn="ctr">
              <a:defRPr sz="1875" b="1" i="0">
                <a:solidFill>
                  <a:srgbClr val="F7F0DF"/>
                </a:solidFill>
              </a:defRPr>
            </a:pPr>
            <a:r>
              <a:rPr sz="1875" b="1" i="0">
                <a:solidFill>
                  <a:srgbClr val="F7F0DF"/>
                </a:solidFill>
              </a:rPr>
              <a:t>&amp;</a:t>
            </a:r>
          </a:p>
          <a:p xmlns:a="http://schemas.openxmlformats.org/drawingml/2006/main">
            <a:pPr algn="ctr">
              <a:defRPr sz="1875" b="1" i="0">
                <a:solidFill>
                  <a:srgbClr val="F7F0DF"/>
                </a:solidFill>
              </a:defRPr>
            </a:pPr>
            <a:r>
              <a:rPr sz="1875" b="1" i="0">
                <a:solidFill>
                  <a:srgbClr val="F7F0DF"/>
                </a:solidFill>
              </a:rPr>
              <a:t>Andrea Karin Morgen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49D9FA-92AB-4D0A-B046-097200116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857750"/>
            <a:ext cx="1295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66B"/>
          </a:solidFill>
          <a:ln xmlns:a="http://schemas.openxmlformats.org/drawingml/2006/main" w="0">
            <a:solidFill>
              <a:srgbClr val="C9A66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A49B43-2306-46C3-A316-7601B7946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105400"/>
            <a:ext cx="2209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F7F0DF"/>
                </a:solidFill>
              </a:defRPr>
            </a:pPr>
            <a:r>
              <a:rPr sz="900" b="0" i="0">
                <a:solidFill>
                  <a:srgbClr val="F7F0DF"/>
                </a:solidFill>
              </a:rPr>
              <a:t>Samstag, 17. Oktober 2026</a:t>
            </a:r>
          </a:p>
          <a:p xmlns:a="http://schemas.openxmlformats.org/drawingml/2006/main">
            <a:pPr algn="ctr">
              <a:defRPr sz="900" b="0" i="0">
                <a:solidFill>
                  <a:srgbClr val="F7F0DF"/>
                </a:solidFill>
              </a:defRPr>
            </a:pPr>
            <a:r>
              <a:rPr sz="900" b="0" i="0">
                <a:solidFill>
                  <a:srgbClr val="F7F0DF"/>
                </a:solidFill>
              </a:rPr>
              <a:t>17:30 Uhr</a:t>
            </a:r>
          </a:p>
          <a:p xmlns:a="http://schemas.openxmlformats.org/drawingml/2006/main">
            <a:pPr algn="ctr">
              <a:defRPr sz="900" b="0" i="0">
                <a:solidFill>
                  <a:srgbClr val="F7F0DF"/>
                </a:solidFill>
              </a:defRPr>
            </a:pPr>
            <a:r>
              <a:rPr sz="900" b="0" i="0">
                <a:solidFill>
                  <a:srgbClr val="F7F0DF"/>
                </a:solidFill>
              </a:rPr>
              <a:t>Venuevinia - 3. Etage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588027-9167-423A-919C-5D0D353DA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9A66B"/>
                </a:solidFill>
              </a:defRPr>
            </a:pPr>
            <a:r>
              <a:rPr sz="900" b="1" i="0">
                <a:solidFill>
                  <a:srgbClr val="C9A66B"/>
                </a:solidFill>
              </a:rPr>
              <a:t>WARUM ES FUNKTIONIERT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32268E-AE24-4956-9047-ECBC1EE3A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5572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344238"/>
                </a:solidFill>
              </a:defRPr>
            </a:pPr>
            <a:r>
              <a:rPr sz="1350" b="0" i="0">
                <a:solidFill>
                  <a:srgbClr val="344238"/>
                </a:solidFill>
              </a:rPr>
              <a:t>Das Paar ist sofort sichtbar, aber die Typografie bleibt ungestört.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6D4251-E65D-40BB-8EE0-832A17D41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344238"/>
                </a:solidFill>
              </a:defRPr>
            </a:pPr>
            <a:r>
              <a:rPr sz="1350" b="0" i="0">
                <a:solidFill>
                  <a:srgbClr val="344238"/>
                </a:solidFill>
              </a:rPr>
              <a:t>Die Struktur ist sehr leicht in eurer Website umzusetzen.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6C96A9-73FB-4532-93A8-C3348A035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344238"/>
                </a:solidFill>
              </a:defRPr>
            </a:pPr>
            <a:r>
              <a:rPr sz="1350" b="0" i="0">
                <a:solidFill>
                  <a:srgbClr val="344238"/>
                </a:solidFill>
              </a:rPr>
              <a:t>Ideal, wenn später weitere Abschnitte nach unten folgen.</a:t>
            </a:r>
          </a:p>
        </p:txBody>
      </p:sp>
    </p:spTree>
    <p:extLst>
      <p:ext uri="{BB962C8B-B14F-4D97-AF65-F5344CB8AC3E}">
        <p14:creationId xmlns:p14="http://schemas.microsoft.com/office/powerpoint/2010/main" val="15475761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8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12C928-A855-4EFF-8D8C-679EC8146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9A66B"/>
                </a:solidFill>
              </a:defRPr>
            </a:pPr>
            <a:r>
              <a:rPr sz="900" b="1" i="0">
                <a:solidFill>
                  <a:srgbClr val="C9A66B"/>
                </a:solidFill>
              </a:rPr>
              <a:t>OPTION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672C79-3D6D-4615-BC8B-4DDCF1ECC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4191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B3A20"/>
                </a:solidFill>
              </a:defRPr>
            </a:pPr>
            <a:r>
              <a:rPr sz="2700" b="1" i="0">
                <a:solidFill>
                  <a:srgbClr val="0B3A20"/>
                </a:solidFill>
              </a:rPr>
              <a:t>Geteilte Einladung mit Foto-Medaillon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F7EE56-30E9-4B6F-8543-CE5BB3D2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19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405043"/>
                </a:solidFill>
              </a:defRPr>
            </a:pPr>
            <a:r>
              <a:rPr sz="1425" b="0" i="0">
                <a:solidFill>
                  <a:srgbClr val="405043"/>
                </a:solidFill>
              </a:rPr>
              <a:t>Das Foto wird kleiner, aber edler: als runder Fokus über einer klassischen Einladungskarte.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675897-63D8-4328-9753-EAF7886CA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71475"/>
            <a:ext cx="3067050" cy="5962650"/>
          </a:xfrm>
          <a:prstGeom xmlns:a="http://schemas.openxmlformats.org/drawingml/2006/main" prst="roundRect">
            <a:avLst>
              <a:gd name="adj" fmla="val 7453"/>
            </a:avLst>
          </a:prstGeom>
          <a:solidFill xmlns:a="http://schemas.openxmlformats.org/drawingml/2006/main">
            <a:srgbClr val="101510"/>
          </a:solidFill>
          <a:ln xmlns:a="http://schemas.openxmlformats.org/drawingml/2006/main" w="9525">
            <a:solidFill>
              <a:srgbClr val="10151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393860-9A9B-4A88-9291-DF00B10B2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6250"/>
            <a:ext cx="2857500" cy="57531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7F0DF"/>
          </a:solidFill>
          <a:ln xmlns:a="http://schemas.openxmlformats.org/drawingml/2006/main" w="9525">
            <a:solidFill>
              <a:srgbClr val="1F2A2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479B04-A566-4FBC-A59B-9F84CE4C8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81025"/>
            <a:ext cx="80010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1510"/>
          </a:solidFill>
          <a:ln xmlns:a="http://schemas.openxmlformats.org/drawingml/2006/main" w="0">
            <a:solidFill>
              <a:srgbClr val="10151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4C3BEC-A398-4B21-954D-2047D0E4C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81915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A66B"/>
          </a:solidFill>
          <a:ln xmlns:a="http://schemas.openxmlformats.org/drawingml/2006/main" w="0">
            <a:solidFill>
              <a:srgbClr val="C9A66B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a1386db5d94a3a"/>
          <a:srcRect xmlns:a="http://schemas.openxmlformats.org/drawingml/2006/main" l="12500" t="0" r="125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81950" y="895350"/>
            <a:ext cx="1371600" cy="1371600"/>
          </a:xfrm>
          <a:prstGeom xmlns:a="http://schemas.openxmlformats.org/drawingml/2006/main" prst="ellipse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9FEEFF-FF17-4308-9041-15EE2AB79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6479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0B3A20"/>
                </a:solidFill>
              </a:defRPr>
            </a:pPr>
            <a:r>
              <a:rPr sz="750" b="1" i="0">
                <a:solidFill>
                  <a:srgbClr val="0B3A20"/>
                </a:solidFill>
              </a:rPr>
              <a:t>WIR HEIRATEN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A2830F-E5DD-4F89-8809-5F9568D23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00375"/>
            <a:ext cx="2495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0B3A20"/>
                </a:solidFill>
              </a:defRPr>
            </a:pPr>
            <a:r>
              <a:rPr sz="1875" b="1" i="0">
                <a:solidFill>
                  <a:srgbClr val="0B3A20"/>
                </a:solidFill>
              </a:rPr>
              <a:t>Tae-Geun Kim</a:t>
            </a:r>
          </a:p>
          <a:p xmlns:a="http://schemas.openxmlformats.org/drawingml/2006/main">
            <a:pPr algn="ctr">
              <a:defRPr sz="1875" b="1" i="0">
                <a:solidFill>
                  <a:srgbClr val="0B3A20"/>
                </a:solidFill>
              </a:defRPr>
            </a:pPr>
            <a:r>
              <a:rPr sz="1875" b="1" i="0">
                <a:solidFill>
                  <a:srgbClr val="0B3A20"/>
                </a:solidFill>
              </a:rPr>
              <a:t>&amp;</a:t>
            </a:r>
          </a:p>
          <a:p xmlns:a="http://schemas.openxmlformats.org/drawingml/2006/main">
            <a:pPr algn="ctr">
              <a:defRPr sz="1875" b="1" i="0">
                <a:solidFill>
                  <a:srgbClr val="0B3A20"/>
                </a:solidFill>
              </a:defRPr>
            </a:pPr>
            <a:r>
              <a:rPr sz="1875" b="1" i="0">
                <a:solidFill>
                  <a:srgbClr val="0B3A20"/>
                </a:solidFill>
              </a:rPr>
              <a:t>Andrea Karin Morgen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72DF06-D18F-4535-8EB3-7500D061F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324350"/>
            <a:ext cx="1295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66B"/>
          </a:solidFill>
          <a:ln xmlns:a="http://schemas.openxmlformats.org/drawingml/2006/main" w="0">
            <a:solidFill>
              <a:srgbClr val="C9A66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ED50FF-8AEB-45AC-A175-1BE439082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552950"/>
            <a:ext cx="2247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273225"/>
                </a:solidFill>
              </a:defRPr>
            </a:pPr>
            <a:r>
              <a:rPr sz="900" b="0" i="0">
                <a:solidFill>
                  <a:srgbClr val="273225"/>
                </a:solidFill>
              </a:rPr>
              <a:t>Samstag, 17. Oktober 2026</a:t>
            </a:r>
          </a:p>
          <a:p xmlns:a="http://schemas.openxmlformats.org/drawingml/2006/main">
            <a:pPr algn="ctr">
              <a:defRPr sz="900" b="0" i="0">
                <a:solidFill>
                  <a:srgbClr val="273225"/>
                </a:solidFill>
              </a:defRPr>
            </a:pPr>
            <a:r>
              <a:rPr sz="900" b="0" i="0">
                <a:solidFill>
                  <a:srgbClr val="273225"/>
                </a:solidFill>
              </a:rPr>
              <a:t>17:30 Uhr</a:t>
            </a:r>
          </a:p>
          <a:p xmlns:a="http://schemas.openxmlformats.org/drawingml/2006/main">
            <a:pPr algn="ctr">
              <a:defRPr sz="900" b="0" i="0">
                <a:solidFill>
                  <a:srgbClr val="273225"/>
                </a:solidFill>
              </a:defRPr>
            </a:pPr>
            <a:r>
              <a:rPr sz="900" b="0" i="0">
                <a:solidFill>
                  <a:srgbClr val="273225"/>
                </a:solidFill>
              </a:rPr>
              <a:t>Venuevinia - 3. Etage, Saphirsaal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C04A64-6C51-4A35-A98F-B62E09D13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467350"/>
            <a:ext cx="17526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B3A20"/>
          </a:solidFill>
          <a:ln xmlns:a="http://schemas.openxmlformats.org/drawingml/2006/main" w="0">
            <a:solidFill>
              <a:srgbClr val="0B3A2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9938A5-FC37-4704-984E-29FE19F8A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562600"/>
            <a:ext cx="15621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7F0DF"/>
                </a:solidFill>
              </a:defRPr>
            </a:pPr>
            <a:r>
              <a:rPr sz="638" b="1" i="0">
                <a:solidFill>
                  <a:srgbClr val="F7F0DF"/>
                </a:solidFill>
              </a:rPr>
              <a:t>NACH UNTEN SCROLLEN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FFB098-3556-47F1-ACBF-96D2CC3F2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9A66B"/>
                </a:solidFill>
              </a:defRPr>
            </a:pPr>
            <a:r>
              <a:rPr sz="900" b="1" i="0">
                <a:solidFill>
                  <a:srgbClr val="C9A66B"/>
                </a:solidFill>
              </a:rPr>
              <a:t>WARUM ES FUNKTIONIERT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FF48D9-FD7C-454E-A48C-EAA4BC849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344238"/>
                </a:solidFill>
              </a:defRPr>
            </a:pPr>
            <a:r>
              <a:rPr sz="1350" b="0" i="0">
                <a:solidFill>
                  <a:srgbClr val="344238"/>
                </a:solidFill>
              </a:rPr>
              <a:t>Sehr nah an einer gedruckten Einladung.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B21892-BA80-45CB-AF33-801AF2D0A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344238"/>
                </a:solidFill>
              </a:defRPr>
            </a:pPr>
            <a:r>
              <a:rPr sz="1350" b="0" i="0">
                <a:solidFill>
                  <a:srgbClr val="344238"/>
                </a:solidFill>
              </a:rPr>
              <a:t>Das Bild ist präsent, ohne die Seite zu dominieren.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731189-F2D2-48A3-B4EE-6F0E745EC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344238"/>
                </a:solidFill>
              </a:defRPr>
            </a:pPr>
            <a:r>
              <a:rPr sz="1350" b="0" i="0">
                <a:solidFill>
                  <a:srgbClr val="344238"/>
                </a:solidFill>
              </a:rPr>
              <a:t>Gut, wenn ihr eine formelle, ruhige Ästhetik möchtet.</a:t>
            </a:r>
          </a:p>
        </p:txBody>
      </p:sp>
    </p:spTree>
    <p:extLst>
      <p:ext uri="{BB962C8B-B14F-4D97-AF65-F5344CB8AC3E}">
        <p14:creationId xmlns:p14="http://schemas.microsoft.com/office/powerpoint/2010/main" val="917117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8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9EB1E6-C3DD-4CF9-90B7-21C03B9B4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9A66B"/>
                </a:solidFill>
              </a:defRPr>
            </a:pPr>
            <a:r>
              <a:rPr sz="900" b="1" i="0">
                <a:solidFill>
                  <a:srgbClr val="C9A66B"/>
                </a:solidFill>
              </a:rPr>
              <a:t>OPTION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7BD008-6FC0-4886-9890-FE3FF2E65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4191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B3A20"/>
                </a:solidFill>
              </a:defRPr>
            </a:pPr>
            <a:r>
              <a:rPr sz="2700" b="1" i="0">
                <a:solidFill>
                  <a:srgbClr val="0B3A20"/>
                </a:solidFill>
              </a:rPr>
              <a:t>Gerahmtes Foto mit Namensbühne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0B31CB-B9DB-4CED-A926-A83A33038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19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405043"/>
                </a:solidFill>
              </a:defRPr>
            </a:pPr>
            <a:r>
              <a:rPr sz="1425" b="0" i="0">
                <a:solidFill>
                  <a:srgbClr val="405043"/>
                </a:solidFill>
              </a:rPr>
              <a:t>Das Foto bleibt ganz sichtbar, aber die Typografie bekommt durch einen halbtransparenten Layer mehr Tiefe.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AE094E-8390-4D17-97A3-4435803C6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71475"/>
            <a:ext cx="3067050" cy="5962650"/>
          </a:xfrm>
          <a:prstGeom xmlns:a="http://schemas.openxmlformats.org/drawingml/2006/main" prst="roundRect">
            <a:avLst>
              <a:gd name="adj" fmla="val 7453"/>
            </a:avLst>
          </a:prstGeom>
          <a:solidFill xmlns:a="http://schemas.openxmlformats.org/drawingml/2006/main">
            <a:srgbClr val="101510"/>
          </a:solidFill>
          <a:ln xmlns:a="http://schemas.openxmlformats.org/drawingml/2006/main" w="9525">
            <a:solidFill>
              <a:srgbClr val="10151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B2F1E4-7867-4C1C-8BC1-E7B5B6EB0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6250"/>
            <a:ext cx="2857500" cy="57531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23F28"/>
          </a:solidFill>
          <a:ln xmlns:a="http://schemas.openxmlformats.org/drawingml/2006/main" w="9525">
            <a:solidFill>
              <a:srgbClr val="1F2A2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229FAE-756B-494A-894A-7E4A63265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81025"/>
            <a:ext cx="80010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1510"/>
          </a:solidFill>
          <a:ln xmlns:a="http://schemas.openxmlformats.org/drawingml/2006/main" w="0">
            <a:solidFill>
              <a:srgbClr val="10151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A314AB-0990-49F5-B61D-2AFB70A11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781050"/>
            <a:ext cx="2438400" cy="367665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7F0DF"/>
          </a:solidFill>
          <a:ln xmlns:a="http://schemas.openxmlformats.org/drawingml/2006/main" w="11430">
            <a:solidFill>
              <a:srgbClr val="C9A66B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3500be58034e88"/>
          <a:srcRect xmlns:a="http://schemas.openxmlformats.org/drawingml/2006/main" l="25967" t="0" r="2596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62850" y="895350"/>
            <a:ext cx="2209800" cy="3448050"/>
          </a:xfrm>
          <a:prstGeom xmlns:a="http://schemas.openxmlformats.org/drawingml/2006/main" prst="roundRect">
            <a:avLst>
              <a:gd name="adj" fmla="val 5172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8749B6-D14C-4751-86A7-1B06908EF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819400"/>
            <a:ext cx="22098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0B3A20">
              <a:alpha val="8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CAD10B-34A0-4670-8DDB-D4A024318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105150"/>
            <a:ext cx="1866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7F0DF"/>
                </a:solidFill>
              </a:defRPr>
            </a:pPr>
            <a:r>
              <a:rPr sz="2025" b="1" i="0">
                <a:solidFill>
                  <a:srgbClr val="F7F0DF"/>
                </a:solidFill>
              </a:rPr>
              <a:t>Tae-Geun</a:t>
            </a:r>
          </a:p>
          <a:p xmlns:a="http://schemas.openxmlformats.org/drawingml/2006/main">
            <a:pPr algn="ctr">
              <a:defRPr sz="2025" b="1" i="0">
                <a:solidFill>
                  <a:srgbClr val="F7F0DF"/>
                </a:solidFill>
              </a:defRPr>
            </a:pPr>
            <a:r>
              <a:rPr sz="2025" b="1" i="0">
                <a:solidFill>
                  <a:srgbClr val="F7F0DF"/>
                </a:solidFill>
              </a:rPr>
              <a:t>&amp;</a:t>
            </a:r>
          </a:p>
          <a:p xmlns:a="http://schemas.openxmlformats.org/drawingml/2006/main">
            <a:pPr algn="ctr">
              <a:defRPr sz="2025" b="1" i="0">
                <a:solidFill>
                  <a:srgbClr val="F7F0DF"/>
                </a:solidFill>
              </a:defRPr>
            </a:pPr>
            <a:r>
              <a:rPr sz="2025" b="1" i="0">
                <a:solidFill>
                  <a:srgbClr val="F7F0DF"/>
                </a:solidFill>
              </a:rPr>
              <a:t>Andrea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2A15CF-39BE-46D7-994C-2FCB96513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9624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D9DFCD"/>
                </a:solidFill>
              </a:defRPr>
            </a:pPr>
            <a:r>
              <a:rPr sz="825" b="0" i="0">
                <a:solidFill>
                  <a:srgbClr val="D9DFCD"/>
                </a:solidFill>
              </a:rPr>
              <a:t>17. Oktober 2026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B7DB7F-922A-400B-B6F4-443EAA3D3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8387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D9DFCD"/>
                </a:solidFill>
              </a:defRPr>
            </a:pPr>
            <a:r>
              <a:rPr sz="750" b="1" i="0">
                <a:solidFill>
                  <a:srgbClr val="D9DFCD"/>
                </a:solidFill>
              </a:rPr>
              <a:t>WIR HEIRATEN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779F22-F5F2-41CE-AEEA-5FE179B71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12445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F7F0DF"/>
                </a:solidFill>
              </a:defRPr>
            </a:pPr>
            <a:r>
              <a:rPr sz="900" b="0" i="0">
                <a:solidFill>
                  <a:srgbClr val="F7F0DF"/>
                </a:solidFill>
              </a:rPr>
              <a:t>17:30 Uhr</a:t>
            </a:r>
          </a:p>
          <a:p xmlns:a="http://schemas.openxmlformats.org/drawingml/2006/main">
            <a:pPr algn="ctr">
              <a:defRPr sz="900" b="0" i="0">
                <a:solidFill>
                  <a:srgbClr val="F7F0DF"/>
                </a:solidFill>
              </a:defRPr>
            </a:pPr>
            <a:r>
              <a:rPr sz="900" b="0" i="0">
                <a:solidFill>
                  <a:srgbClr val="F7F0DF"/>
                </a:solidFill>
              </a:rPr>
              <a:t>Venuevinia - Saphirsaal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70D48F-0C96-4A9F-A196-1D1F16A71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9A66B"/>
                </a:solidFill>
              </a:defRPr>
            </a:pPr>
            <a:r>
              <a:rPr sz="900" b="1" i="0">
                <a:solidFill>
                  <a:srgbClr val="C9A66B"/>
                </a:solidFill>
              </a:rPr>
              <a:t>WARUM ES FUNKTIONIERT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0A0CAB-C569-4A83-BDD3-C314E4F62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344238"/>
                </a:solidFill>
              </a:defRPr>
            </a:pPr>
            <a:r>
              <a:rPr sz="1350" b="0" i="0">
                <a:solidFill>
                  <a:srgbClr val="344238"/>
                </a:solidFill>
              </a:rPr>
              <a:t>Der Rahmen macht das Foto bewusster und festlicher.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C2697C-4BA4-43B3-8589-3E54A7B05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344238"/>
                </a:solidFill>
              </a:defRPr>
            </a:pPr>
            <a:r>
              <a:rPr sz="1350" b="0" i="0">
                <a:solidFill>
                  <a:srgbClr val="344238"/>
                </a:solidFill>
              </a:rPr>
              <a:t>Die Namen liegen über weniger unruhigen Bildstellen.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AD52B7-91A4-4C76-95D9-9893E14EC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552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344238"/>
                </a:solidFill>
              </a:defRPr>
            </a:pPr>
            <a:r>
              <a:rPr sz="1350" b="0" i="0">
                <a:solidFill>
                  <a:srgbClr val="344238"/>
                </a:solidFill>
              </a:rPr>
              <a:t>Ein guter Kompromiss zwischen Foto-Statement und Lesbarkeit.</a:t>
            </a:r>
          </a:p>
        </p:txBody>
      </p:sp>
    </p:spTree>
    <p:extLst>
      <p:ext uri="{BB962C8B-B14F-4D97-AF65-F5344CB8AC3E}">
        <p14:creationId xmlns:p14="http://schemas.microsoft.com/office/powerpoint/2010/main" val="19824400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3A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BF0F52-5C6A-4A90-B5A4-23A10A58C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9A66B"/>
                </a:solidFill>
              </a:defRPr>
            </a:pPr>
            <a:r>
              <a:rPr sz="900" b="1" i="0">
                <a:solidFill>
                  <a:srgbClr val="C9A66B"/>
                </a:solidFill>
              </a:rPr>
              <a:t>EMPFEHLUNG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568897-7CF3-4146-B1B1-FA770678D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704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7F0DF"/>
                </a:solidFill>
              </a:defRPr>
            </a:pPr>
            <a:r>
              <a:rPr sz="3150" b="1" i="0">
                <a:solidFill>
                  <a:srgbClr val="F7F0DF"/>
                </a:solidFill>
              </a:rPr>
              <a:t>Am stärksten wirken Option 1 oder Option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8E1A15-6B00-4094-B874-1E0145BD9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685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D9DFCD"/>
                </a:solidFill>
              </a:defRPr>
            </a:pPr>
            <a:r>
              <a:rPr sz="1650" b="0" i="0">
                <a:solidFill>
                  <a:srgbClr val="D9DFCD"/>
                </a:solidFill>
              </a:rPr>
              <a:t>Option 1 fühlt sich emotional und modern an. Option 3 ist die sauberste mobile Lösung, weil Foto, Namen und Details jeweils eigene Zonen bekommen.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B44401-6E16-4CFB-B3EF-04BDE7FD8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2000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66B"/>
          </a:solidFill>
          <a:ln xmlns:a="http://schemas.openxmlformats.org/drawingml/2006/main" w="0">
            <a:solidFill>
              <a:srgbClr val="C9A66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96BD2C-5B24-424D-8B07-46ADD210F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685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7F0DF"/>
                </a:solidFill>
              </a:defRPr>
            </a:pPr>
            <a:r>
              <a:rPr sz="1350" b="0" i="0">
                <a:solidFill>
                  <a:srgbClr val="F7F0DF"/>
                </a:solidFill>
              </a:rPr>
              <a:t>Für die finale Einladung: Bild oben oder vollflächig, Text nie direkt über den Gesichtern.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27FC07-65E6-4EFE-8A17-19EEC7754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685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7F0DF"/>
                </a:solidFill>
              </a:defRPr>
            </a:pPr>
            <a:r>
              <a:rPr sz="1350" b="0" i="0">
                <a:solidFill>
                  <a:srgbClr val="F7F0DF"/>
                </a:solidFill>
              </a:rPr>
              <a:t>Grün als Hauptfläche behalten, Creme für Lesbarkeit, Gold nur als feiner Akzent.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7C2F07-F124-4D9D-BFF9-FAD0EDD35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685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7F0DF"/>
                </a:solidFill>
              </a:defRPr>
            </a:pPr>
            <a:r>
              <a:rPr sz="1350" b="0" i="0">
                <a:solidFill>
                  <a:srgbClr val="F7F0DF"/>
                </a:solidFill>
              </a:rPr>
              <a:t>Beim Umsetzen zuerst den Mobile-Screen designen, danach Desktop ableiten.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B6F61B-A291-4160-90AA-FA3D3EC33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504825"/>
            <a:ext cx="2400300" cy="4972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01510"/>
          </a:solidFill>
          <a:ln xmlns:a="http://schemas.openxmlformats.org/drawingml/2006/main" w="9525">
            <a:solidFill>
              <a:srgbClr val="10151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16E886-F083-4455-AE9A-2A1F354E3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609600"/>
            <a:ext cx="2190750" cy="4762500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7F0DF"/>
          </a:solidFill>
          <a:ln xmlns:a="http://schemas.openxmlformats.org/drawingml/2006/main" w="9525">
            <a:solidFill>
              <a:srgbClr val="1F2A2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F2C60E-6C2D-41C5-A158-25D29E681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714375"/>
            <a:ext cx="80010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1510"/>
          </a:solidFill>
          <a:ln xmlns:a="http://schemas.openxmlformats.org/drawingml/2006/main" w="0">
            <a:solidFill>
              <a:srgbClr val="101510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32a10933154104"/>
          <a:srcRect xmlns:a="http://schemas.openxmlformats.org/drawingml/2006/main" l="9696" t="0" r="969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10600" y="609600"/>
            <a:ext cx="2190750" cy="2038350"/>
          </a:xfrm>
          <a:prstGeom xmlns:a="http://schemas.openxmlformats.org/drawingml/2006/main" prst="roundRect">
            <a:avLst>
              <a:gd name="adj" fmla="val 11215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3E4A29-3F81-40F0-AC6B-6A29C51D3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28950"/>
            <a:ext cx="1809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B3A20"/>
                </a:solidFill>
              </a:defRPr>
            </a:pPr>
            <a:r>
              <a:rPr sz="1800" b="1" i="0">
                <a:solidFill>
                  <a:srgbClr val="0B3A20"/>
                </a:solidFill>
              </a:rPr>
              <a:t>Tae-Geun</a:t>
            </a:r>
          </a:p>
          <a:p xmlns:a="http://schemas.openxmlformats.org/drawingml/2006/main">
            <a:pPr algn="ctr">
              <a:defRPr sz="1800" b="1" i="0">
                <a:solidFill>
                  <a:srgbClr val="0B3A20"/>
                </a:solidFill>
              </a:defRPr>
            </a:pPr>
            <a:r>
              <a:rPr sz="1800" b="1" i="0">
                <a:solidFill>
                  <a:srgbClr val="0B3A20"/>
                </a:solidFill>
              </a:rPr>
              <a:t>&amp;</a:t>
            </a:r>
          </a:p>
          <a:p xmlns:a="http://schemas.openxmlformats.org/drawingml/2006/main">
            <a:pPr algn="ctr">
              <a:defRPr sz="1800" b="1" i="0">
                <a:solidFill>
                  <a:srgbClr val="0B3A20"/>
                </a:solidFill>
              </a:defRPr>
            </a:pPr>
            <a:r>
              <a:rPr sz="1800" b="1" i="0">
                <a:solidFill>
                  <a:srgbClr val="0B3A20"/>
                </a:solidFill>
              </a:rPr>
              <a:t>Andrea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3AF731-5D93-462F-AC8C-0357D6451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000500"/>
            <a:ext cx="12763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66B"/>
          </a:solidFill>
          <a:ln xmlns:a="http://schemas.openxmlformats.org/drawingml/2006/main" w="0">
            <a:solidFill>
              <a:srgbClr val="C9A66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004161-589C-4879-BBE0-779A51B0E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48150"/>
            <a:ext cx="1695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273225"/>
                </a:solidFill>
              </a:defRPr>
            </a:pPr>
            <a:r>
              <a:rPr sz="825" b="0" i="0">
                <a:solidFill>
                  <a:srgbClr val="273225"/>
                </a:solidFill>
              </a:rPr>
              <a:t>17. Oktober 2026</a:t>
            </a:r>
          </a:p>
        </p:txBody>
      </p:sp>
    </p:spTree>
    <p:extLst>
      <p:ext uri="{BB962C8B-B14F-4D97-AF65-F5344CB8AC3E}">
        <p14:creationId xmlns:p14="http://schemas.microsoft.com/office/powerpoint/2010/main" val="16288676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2026-07-09T16:19:51.3900000Z</dcterms:created>
  <dcterms:modified xsi:type="dcterms:W3CDTF">2026-07-09T16:19:51.3900000Z</dcterms:modified>
</coreProperties>
</file>